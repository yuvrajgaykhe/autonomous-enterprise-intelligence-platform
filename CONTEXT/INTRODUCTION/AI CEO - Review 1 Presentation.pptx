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0"/>
            <a:ext cx="731520" cy="320040"/>
          </a:xfrm>
          <a:prstGeom prst="line">
            <a:avLst/>
          </a:prstGeom>
          <a:noFill/>
          <a:ln w="12700">
            <a:solidFill>
              <a:srgbClr val="3A4E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27080" y="777240"/>
            <a:ext cx="365760" cy="502920"/>
          </a:xfrm>
          <a:prstGeom prst="line">
            <a:avLst/>
          </a:prstGeom>
          <a:noFill/>
          <a:ln w="12700">
            <a:solidFill>
              <a:srgbClr val="3A4E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777240"/>
            <a:ext cx="320040" cy="640080"/>
          </a:xfrm>
          <a:prstGeom prst="line">
            <a:avLst/>
          </a:prstGeom>
          <a:noFill/>
          <a:ln w="12700">
            <a:solidFill>
              <a:srgbClr val="3A4E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78440" y="457200"/>
            <a:ext cx="182880" cy="594360"/>
          </a:xfrm>
          <a:prstGeom prst="line">
            <a:avLst/>
          </a:prstGeom>
          <a:noFill/>
          <a:ln w="12700">
            <a:solidFill>
              <a:srgbClr val="3A4E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378440" y="1051560"/>
            <a:ext cx="548640" cy="228600"/>
          </a:xfrm>
          <a:prstGeom prst="line">
            <a:avLst/>
          </a:prstGeom>
          <a:noFill/>
          <a:ln w="12700">
            <a:solidFill>
              <a:srgbClr val="3A4E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20172" y="416052"/>
            <a:ext cx="82296" cy="82296"/>
          </a:xfrm>
          <a:prstGeom prst="ellipse">
            <a:avLst/>
          </a:prstGeom>
          <a:solidFill>
            <a:srgbClr val="5670AA"/>
          </a:solidFill>
          <a:ln/>
        </p:spPr>
      </p:sp>
      <p:sp>
        <p:nvSpPr>
          <p:cNvPr id="8" name="Shape 6"/>
          <p:cNvSpPr/>
          <p:nvPr/>
        </p:nvSpPr>
        <p:spPr>
          <a:xfrm>
            <a:off x="11251692" y="736092"/>
            <a:ext cx="82296" cy="82296"/>
          </a:xfrm>
          <a:prstGeom prst="ellipse">
            <a:avLst/>
          </a:prstGeom>
          <a:solidFill>
            <a:srgbClr val="C9972F"/>
          </a:solidFill>
          <a:ln/>
        </p:spPr>
      </p:sp>
      <p:sp>
        <p:nvSpPr>
          <p:cNvPr id="9" name="Shape 7"/>
          <p:cNvSpPr/>
          <p:nvPr/>
        </p:nvSpPr>
        <p:spPr>
          <a:xfrm>
            <a:off x="10885932" y="1239012"/>
            <a:ext cx="82296" cy="82296"/>
          </a:xfrm>
          <a:prstGeom prst="ellipse">
            <a:avLst/>
          </a:prstGeom>
          <a:solidFill>
            <a:srgbClr val="5670AA"/>
          </a:solidFill>
          <a:ln/>
        </p:spPr>
      </p:sp>
      <p:sp>
        <p:nvSpPr>
          <p:cNvPr id="10" name="Shape 8"/>
          <p:cNvSpPr/>
          <p:nvPr/>
        </p:nvSpPr>
        <p:spPr>
          <a:xfrm>
            <a:off x="11571732" y="1376172"/>
            <a:ext cx="82296" cy="82296"/>
          </a:xfrm>
          <a:prstGeom prst="ellipse">
            <a:avLst/>
          </a:prstGeom>
          <a:solidFill>
            <a:srgbClr val="5670AA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7292" y="1010412"/>
            <a:ext cx="82296" cy="82296"/>
          </a:xfrm>
          <a:prstGeom prst="ellipse">
            <a:avLst/>
          </a:prstGeom>
          <a:solidFill>
            <a:srgbClr val="5670AA"/>
          </a:solidFill>
          <a:ln/>
        </p:spPr>
      </p:sp>
      <p:pic>
        <p:nvPicPr>
          <p:cNvPr id="12" name="Image 0" descr="/home/claude/work/icons/colleg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566928" cy="685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80160" y="36576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ZEAL EDUCATION SOCIETY'S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8016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Zeal College of Engineering and Research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80160" y="822960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Narhe · Pune 411041 · Maharashtra, India   |   Department of Computer Engineering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0" y="1572768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4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STAGE 1   ·   REVIEW 1   ·   ACADEMIC YEAR 2026–27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0" y="18745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CEO</a:t>
            </a:r>
            <a:endParaRPr lang="en-US" sz="5800" dirty="0"/>
          </a:p>
        </p:txBody>
      </p:sp>
      <p:sp>
        <p:nvSpPr>
          <p:cNvPr id="18" name="Text 15"/>
          <p:cNvSpPr/>
          <p:nvPr/>
        </p:nvSpPr>
        <p:spPr>
          <a:xfrm>
            <a:off x="731520" y="2816352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Enterprise Intelligence Platform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31520" y="3218688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7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self-improving multi-agent operating system for the mid-sized enterprise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0" y="3675888"/>
            <a:ext cx="12191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80" kern="0" dirty="0">
                <a:solidFill>
                  <a:srgbClr val="9FB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&amp; DATA SCIENCE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0" y="3913632"/>
            <a:ext cx="121916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 |   Generative AI   |   Enterprise AI   |   Decision Intelligence   |   Knowledge Graphs   |   RAG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4315968"/>
            <a:ext cx="11094415" cy="1874520"/>
          </a:xfrm>
          <a:prstGeom prst="roundRect">
            <a:avLst>
              <a:gd name="adj" fmla="val 4878"/>
            </a:avLst>
          </a:prstGeom>
          <a:solidFill>
            <a:srgbClr val="16244A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4988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 ·  GROUP 11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68680" y="4846320"/>
            <a:ext cx="243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 Gaykhe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68680" y="5138928"/>
            <a:ext cx="243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B21040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68680" y="5367528"/>
            <a:ext cx="2430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/ GenAI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482264" y="4846320"/>
            <a:ext cx="243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Sanika Attarde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482264" y="5138928"/>
            <a:ext cx="243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B21006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482264" y="5367528"/>
            <a:ext cx="2430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Knowledge Graph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095848" y="4846320"/>
            <a:ext cx="243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Shravani Konde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095848" y="5138928"/>
            <a:ext cx="243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B21070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095848" y="5367528"/>
            <a:ext cx="2430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/ ML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709431" y="4846320"/>
            <a:ext cx="243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More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709431" y="5138928"/>
            <a:ext cx="2430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B22037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709431" y="5367528"/>
            <a:ext cx="2430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Workflow Automation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68680" y="5833872"/>
            <a:ext cx="10454335" cy="914"/>
          </a:xfrm>
          <a:prstGeom prst="line">
            <a:avLst/>
          </a:prstGeom>
          <a:noFill/>
          <a:ln w="12700">
            <a:solidFill>
              <a:srgbClr val="2C3B6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68680" y="588873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Shrutika Nanaware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665415" y="58887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– 2027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/college_logo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1185855" y="29260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PROBLEM CONTEXT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Exists. The Intelligence Is Fragmented.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78308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mid-sized company already runs a CRM, an ERP, an HRMS, a support desk, and a project tracker. Every one of them captures real data — but almost none of it reaches the people who need it.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2697480"/>
            <a:ext cx="5760720" cy="566928"/>
          </a:xfrm>
          <a:prstGeom prst="roundRect">
            <a:avLst>
              <a:gd name="adj" fmla="val 12903"/>
            </a:avLst>
          </a:prstGeom>
          <a:solidFill>
            <a:srgbClr val="0F1B3C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69748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AVAILABILITY  </a:t>
            </a:r>
            <a:pPr algn="ctr" indent="0" marL="0">
              <a:buNone/>
            </a:pPr>
            <a:r>
              <a:rPr lang="en-US" sz="1400" b="1" spc="40" kern="0" dirty="0">
                <a:solidFill>
                  <a:srgbClr val="C9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pPr algn="ctr" indent="0" marL="0">
              <a:buNone/>
            </a:pPr>
            <a:r>
              <a:rPr lang="en-US" sz="1400" b="1" spc="4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ORGANIZATIONAL INTELLIGENCE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4472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DOWN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3739896"/>
            <a:ext cx="310896" cy="310896"/>
          </a:xfrm>
          <a:prstGeom prst="ellipse">
            <a:avLst/>
          </a:prstGeom>
          <a:solidFill>
            <a:srgbClr val="16244A"/>
          </a:solidFill>
          <a:ln/>
        </p:spPr>
      </p:sp>
      <p:pic>
        <p:nvPicPr>
          <p:cNvPr id="10" name="Image 1" descr="/home/claude/work/icons/heads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92" y="3809848"/>
            <a:ext cx="170993" cy="1709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9264" y="371246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detects a churn risk — Sales never sees it.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548640" y="4160520"/>
            <a:ext cx="310896" cy="310896"/>
          </a:xfrm>
          <a:prstGeom prst="ellipse">
            <a:avLst/>
          </a:prstGeom>
          <a:solidFill>
            <a:srgbClr val="16244A"/>
          </a:solidFill>
          <a:ln/>
        </p:spPr>
      </p:sp>
      <p:pic>
        <p:nvPicPr>
          <p:cNvPr id="13" name="Image 2" descr="/home/claude/work/icons/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92" y="4230472"/>
            <a:ext cx="170993" cy="1709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9264" y="413308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forecasts revenue with no support-risk context.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548640" y="4581144"/>
            <a:ext cx="310896" cy="310896"/>
          </a:xfrm>
          <a:prstGeom prst="ellipse">
            <a:avLst/>
          </a:prstGeom>
          <a:solidFill>
            <a:srgbClr val="16244A"/>
          </a:solidFill>
          <a:ln/>
        </p:spPr>
      </p:sp>
      <p:pic>
        <p:nvPicPr>
          <p:cNvPr id="16" name="Image 3" descr="/home/claude/wor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92" y="4651096"/>
            <a:ext cx="170993" cy="1709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9264" y="45537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plans hiring without the revenue forecast in view.</a:t>
            </a:r>
            <a:endParaRPr lang="en-US" sz="1080" dirty="0"/>
          </a:p>
        </p:txBody>
      </p:sp>
      <p:sp>
        <p:nvSpPr>
          <p:cNvPr id="18" name="Shape 12"/>
          <p:cNvSpPr/>
          <p:nvPr/>
        </p:nvSpPr>
        <p:spPr>
          <a:xfrm>
            <a:off x="548640" y="5001768"/>
            <a:ext cx="310896" cy="310896"/>
          </a:xfrm>
          <a:prstGeom prst="ellipse">
            <a:avLst/>
          </a:prstGeom>
          <a:solidFill>
            <a:srgbClr val="16244A"/>
          </a:solidFill>
          <a:ln/>
        </p:spPr>
      </p:sp>
      <p:pic>
        <p:nvPicPr>
          <p:cNvPr id="19" name="Image 4" descr="/home/claude/work/icons/fold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2" y="5071720"/>
            <a:ext cx="170993" cy="17099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69264" y="497433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and past decisions stay buried in documents.</a:t>
            </a:r>
            <a:endParaRPr lang="en-US" sz="1080" dirty="0"/>
          </a:p>
        </p:txBody>
      </p:sp>
      <p:sp>
        <p:nvSpPr>
          <p:cNvPr id="21" name="Shape 14"/>
          <p:cNvSpPr/>
          <p:nvPr/>
        </p:nvSpPr>
        <p:spPr>
          <a:xfrm>
            <a:off x="548640" y="5422392"/>
            <a:ext cx="5760720" cy="594360"/>
          </a:xfrm>
          <a:prstGeom prst="roundRect">
            <a:avLst>
              <a:gd name="adj" fmla="val 12308"/>
            </a:avLst>
          </a:prstGeom>
          <a:solidFill>
            <a:srgbClr val="EEF2F9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777240" y="542239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 </a:t>
            </a:r>
            <a:pPr indent="0" marL="0">
              <a:buNone/>
            </a:pPr>
            <a:r>
              <a:rPr lang="en-US" sz="1150" i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an intelligence layer above these existing systems of record.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675120" y="1783080"/>
            <a:ext cx="4967935" cy="4233672"/>
          </a:xfrm>
          <a:prstGeom prst="roundRect">
            <a:avLst>
              <a:gd name="adj" fmla="val 2160"/>
            </a:avLst>
          </a:prstGeom>
          <a:solidFill>
            <a:srgbClr val="0F1B3C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6949440" y="1965960"/>
            <a:ext cx="4419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SYSTEMS OF RECORD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949440" y="2276856"/>
            <a:ext cx="1049960" cy="384048"/>
          </a:xfrm>
          <a:prstGeom prst="roundRect">
            <a:avLst>
              <a:gd name="adj" fmla="val 19048"/>
            </a:avLst>
          </a:prstGeom>
          <a:solidFill>
            <a:srgbClr val="1C2C55"/>
          </a:solidFill>
          <a:ln/>
        </p:spPr>
      </p:sp>
      <p:sp>
        <p:nvSpPr>
          <p:cNvPr id="26" name="Text 19"/>
          <p:cNvSpPr/>
          <p:nvPr/>
        </p:nvSpPr>
        <p:spPr>
          <a:xfrm>
            <a:off x="6986016" y="2276856"/>
            <a:ext cx="976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8072552" y="2276856"/>
            <a:ext cx="1049960" cy="384048"/>
          </a:xfrm>
          <a:prstGeom prst="roundRect">
            <a:avLst>
              <a:gd name="adj" fmla="val 19048"/>
            </a:avLst>
          </a:prstGeom>
          <a:solidFill>
            <a:srgbClr val="1C2C55"/>
          </a:solidFill>
          <a:ln/>
        </p:spPr>
      </p:sp>
      <p:sp>
        <p:nvSpPr>
          <p:cNvPr id="28" name="Text 21"/>
          <p:cNvSpPr/>
          <p:nvPr/>
        </p:nvSpPr>
        <p:spPr>
          <a:xfrm>
            <a:off x="8109128" y="2276856"/>
            <a:ext cx="976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9195664" y="2276856"/>
            <a:ext cx="1049960" cy="384048"/>
          </a:xfrm>
          <a:prstGeom prst="roundRect">
            <a:avLst>
              <a:gd name="adj" fmla="val 19048"/>
            </a:avLst>
          </a:prstGeom>
          <a:solidFill>
            <a:srgbClr val="1C2C55"/>
          </a:solidFill>
          <a:ln/>
        </p:spPr>
      </p:sp>
      <p:sp>
        <p:nvSpPr>
          <p:cNvPr id="30" name="Text 23"/>
          <p:cNvSpPr/>
          <p:nvPr/>
        </p:nvSpPr>
        <p:spPr>
          <a:xfrm>
            <a:off x="9232240" y="2276856"/>
            <a:ext cx="976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HRMS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10318775" y="2276856"/>
            <a:ext cx="1049960" cy="384048"/>
          </a:xfrm>
          <a:prstGeom prst="roundRect">
            <a:avLst>
              <a:gd name="adj" fmla="val 19048"/>
            </a:avLst>
          </a:prstGeom>
          <a:solidFill>
            <a:srgbClr val="1C2C55"/>
          </a:solidFill>
          <a:ln/>
        </p:spPr>
      </p:sp>
      <p:sp>
        <p:nvSpPr>
          <p:cNvPr id="32" name="Text 25"/>
          <p:cNvSpPr/>
          <p:nvPr/>
        </p:nvSpPr>
        <p:spPr>
          <a:xfrm>
            <a:off x="10355351" y="2276856"/>
            <a:ext cx="976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949440" y="2734056"/>
            <a:ext cx="1049960" cy="384048"/>
          </a:xfrm>
          <a:prstGeom prst="roundRect">
            <a:avLst>
              <a:gd name="adj" fmla="val 19048"/>
            </a:avLst>
          </a:prstGeom>
          <a:solidFill>
            <a:srgbClr val="1C2C55"/>
          </a:solidFill>
          <a:ln/>
        </p:spPr>
      </p:sp>
      <p:sp>
        <p:nvSpPr>
          <p:cNvPr id="34" name="Text 27"/>
          <p:cNvSpPr/>
          <p:nvPr/>
        </p:nvSpPr>
        <p:spPr>
          <a:xfrm>
            <a:off x="6986016" y="2734056"/>
            <a:ext cx="976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8072552" y="2734056"/>
            <a:ext cx="1049960" cy="384048"/>
          </a:xfrm>
          <a:prstGeom prst="roundRect">
            <a:avLst>
              <a:gd name="adj" fmla="val 19048"/>
            </a:avLst>
          </a:prstGeom>
          <a:solidFill>
            <a:srgbClr val="1C2C55"/>
          </a:solidFill>
          <a:ln/>
        </p:spPr>
      </p:sp>
      <p:sp>
        <p:nvSpPr>
          <p:cNvPr id="36" name="Text 29"/>
          <p:cNvSpPr/>
          <p:nvPr/>
        </p:nvSpPr>
        <p:spPr>
          <a:xfrm>
            <a:off x="8109128" y="2734056"/>
            <a:ext cx="976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9195664" y="2734056"/>
            <a:ext cx="1049960" cy="384048"/>
          </a:xfrm>
          <a:prstGeom prst="roundRect">
            <a:avLst>
              <a:gd name="adj" fmla="val 19048"/>
            </a:avLst>
          </a:prstGeom>
          <a:solidFill>
            <a:srgbClr val="1C2C55"/>
          </a:solidFill>
          <a:ln/>
        </p:spPr>
      </p:sp>
      <p:sp>
        <p:nvSpPr>
          <p:cNvPr id="38" name="Text 31"/>
          <p:cNvSpPr/>
          <p:nvPr/>
        </p:nvSpPr>
        <p:spPr>
          <a:xfrm>
            <a:off x="9232240" y="2734056"/>
            <a:ext cx="976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9085936" y="3246120"/>
            <a:ext cx="146304" cy="146304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40" name="Shape 33"/>
          <p:cNvSpPr/>
          <p:nvPr/>
        </p:nvSpPr>
        <p:spPr>
          <a:xfrm>
            <a:off x="7132320" y="3465576"/>
            <a:ext cx="4053535" cy="365760"/>
          </a:xfrm>
          <a:prstGeom prst="roundRect">
            <a:avLst>
              <a:gd name="adj" fmla="val 20000"/>
            </a:avLst>
          </a:prstGeom>
          <a:solidFill>
            <a:srgbClr val="1C2C55"/>
          </a:solidFill>
          <a:ln/>
        </p:spPr>
      </p:sp>
      <p:sp>
        <p:nvSpPr>
          <p:cNvPr id="41" name="Text 34"/>
          <p:cNvSpPr/>
          <p:nvPr/>
        </p:nvSpPr>
        <p:spPr>
          <a:xfrm>
            <a:off x="7168896" y="3465576"/>
            <a:ext cx="39803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Context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9095080" y="3867912"/>
            <a:ext cx="128016" cy="118872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43" name="Shape 36"/>
          <p:cNvSpPr/>
          <p:nvPr/>
        </p:nvSpPr>
        <p:spPr>
          <a:xfrm>
            <a:off x="7132320" y="4050792"/>
            <a:ext cx="4053535" cy="365760"/>
          </a:xfrm>
          <a:prstGeom prst="roundRect">
            <a:avLst>
              <a:gd name="adj" fmla="val 20000"/>
            </a:avLst>
          </a:prstGeom>
          <a:solidFill>
            <a:srgbClr val="1C2C55"/>
          </a:solidFill>
          <a:ln/>
        </p:spPr>
      </p:sp>
      <p:sp>
        <p:nvSpPr>
          <p:cNvPr id="44" name="Text 37"/>
          <p:cNvSpPr/>
          <p:nvPr/>
        </p:nvSpPr>
        <p:spPr>
          <a:xfrm>
            <a:off x="7168896" y="4050792"/>
            <a:ext cx="39803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9095080" y="4453128"/>
            <a:ext cx="128016" cy="118872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46" name="Shape 39"/>
          <p:cNvSpPr/>
          <p:nvPr/>
        </p:nvSpPr>
        <p:spPr>
          <a:xfrm>
            <a:off x="7132320" y="4636008"/>
            <a:ext cx="4053535" cy="365760"/>
          </a:xfrm>
          <a:prstGeom prst="roundRect">
            <a:avLst>
              <a:gd name="adj" fmla="val 20000"/>
            </a:avLst>
          </a:prstGeom>
          <a:solidFill>
            <a:srgbClr val="3A1E1A"/>
          </a:solidFill>
          <a:ln w="12700">
            <a:solidFill>
              <a:srgbClr val="B4483A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7168896" y="4636008"/>
            <a:ext cx="39803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2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Decisions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548640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  ·  Autonomous Enterprise Intelligence Platform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8899855" y="6473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 ·  Review 1  ·  02 / 12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/college_logo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1185855" y="29260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01 · CLARITY OF PROBLEM STATEMENT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Customer. Five Systems. No Shared Context.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78308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 EVENT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1645920" y="2350008"/>
            <a:ext cx="8899855" cy="914"/>
          </a:xfrm>
          <a:prstGeom prst="line">
            <a:avLst/>
          </a:prstGeom>
          <a:noFill/>
          <a:ln w="25400">
            <a:solidFill>
              <a:srgbClr val="DCE3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640751" y="2276856"/>
            <a:ext cx="146304" cy="146304"/>
          </a:xfrm>
          <a:prstGeom prst="ellipse">
            <a:avLst/>
          </a:prstGeom>
          <a:solidFill>
            <a:srgbClr val="0F1B3C"/>
          </a:solidFill>
          <a:ln/>
        </p:spPr>
      </p:sp>
      <p:sp>
        <p:nvSpPr>
          <p:cNvPr id="8" name="Text 5"/>
          <p:cNvSpPr/>
          <p:nvPr/>
        </p:nvSpPr>
        <p:spPr>
          <a:xfrm>
            <a:off x="2073823" y="19659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890943" y="24963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#1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22696" y="2276856"/>
            <a:ext cx="146304" cy="146304"/>
          </a:xfrm>
          <a:prstGeom prst="ellipse">
            <a:avLst/>
          </a:prstGeom>
          <a:solidFill>
            <a:srgbClr val="0F1B3C"/>
          </a:solidFill>
          <a:ln/>
        </p:spPr>
      </p:sp>
      <p:sp>
        <p:nvSpPr>
          <p:cNvPr id="11" name="Text 8"/>
          <p:cNvSpPr/>
          <p:nvPr/>
        </p:nvSpPr>
        <p:spPr>
          <a:xfrm>
            <a:off x="5455768" y="19659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272888" y="24963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#2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404641" y="2276856"/>
            <a:ext cx="146304" cy="146304"/>
          </a:xfrm>
          <a:prstGeom prst="ellipse">
            <a:avLst/>
          </a:prstGeom>
          <a:solidFill>
            <a:srgbClr val="B4483A"/>
          </a:solidFill>
          <a:ln/>
        </p:spPr>
      </p:sp>
      <p:sp>
        <p:nvSpPr>
          <p:cNvPr id="14" name="Text 11"/>
          <p:cNvSpPr/>
          <p:nvPr/>
        </p:nvSpPr>
        <p:spPr>
          <a:xfrm>
            <a:off x="8837713" y="19659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654833" y="24963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#3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31546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ORGANIZATIONAL BLIND SPOT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465576"/>
            <a:ext cx="2072579" cy="1051560"/>
          </a:xfrm>
          <a:prstGeom prst="roundRect">
            <a:avLst>
              <a:gd name="adj" fmla="val 6957"/>
            </a:avLst>
          </a:prstGeom>
          <a:solidFill>
            <a:srgbClr val="EEF2F9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411194" y="3593592"/>
            <a:ext cx="347472" cy="347472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9" name="Image 1" descr="/home/claude/work/icons/heads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375" y="3671773"/>
            <a:ext cx="191110" cy="19111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03504" y="3977640"/>
            <a:ext cx="19628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21792" y="4187952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rising issue frequency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2804099" y="3465576"/>
            <a:ext cx="2072579" cy="1051560"/>
          </a:xfrm>
          <a:prstGeom prst="roundRect">
            <a:avLst>
              <a:gd name="adj" fmla="val 6957"/>
            </a:avLst>
          </a:prstGeom>
          <a:solidFill>
            <a:srgbClr val="EEF2F9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666653" y="3593592"/>
            <a:ext cx="347472" cy="347472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4" name="Image 2" descr="/home/claude/work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834" y="3671773"/>
            <a:ext cx="191110" cy="19111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858963" y="3977640"/>
            <a:ext cx="19628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2877251" y="4187952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 signal before renewal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5059558" y="3465576"/>
            <a:ext cx="2072579" cy="1051560"/>
          </a:xfrm>
          <a:prstGeom prst="roundRect">
            <a:avLst>
              <a:gd name="adj" fmla="val 6957"/>
            </a:avLst>
          </a:prstGeom>
          <a:solidFill>
            <a:srgbClr val="EEF2F9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922112" y="3593592"/>
            <a:ext cx="347472" cy="347472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9" name="Image 3" descr="/home/claude/work/icons/doll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293" y="3671773"/>
            <a:ext cx="191110" cy="19111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114422" y="3977640"/>
            <a:ext cx="19628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132710" y="4187952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normal revenue forecast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7315017" y="3465576"/>
            <a:ext cx="2072579" cy="1051560"/>
          </a:xfrm>
          <a:prstGeom prst="roundRect">
            <a:avLst>
              <a:gd name="adj" fmla="val 6957"/>
            </a:avLst>
          </a:prstGeom>
          <a:solidFill>
            <a:srgbClr val="EEF2F9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177571" y="3593592"/>
            <a:ext cx="347472" cy="347472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34" name="Image 4" descr="/home/claude/work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752" y="3671773"/>
            <a:ext cx="191110" cy="19111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369881" y="3977640"/>
            <a:ext cx="19628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7388169" y="4187952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churn-weighted signal in roadmap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9570476" y="3465576"/>
            <a:ext cx="2072579" cy="1051560"/>
          </a:xfrm>
          <a:prstGeom prst="roundRect">
            <a:avLst>
              <a:gd name="adj" fmla="val 6957"/>
            </a:avLst>
          </a:prstGeom>
          <a:solidFill>
            <a:srgbClr val="FBEEEC"/>
          </a:solidFill>
          <a:ln w="9525">
            <a:solidFill>
              <a:srgbClr val="B4483A"/>
            </a:solidFill>
            <a:prstDash val="solid"/>
          </a:ln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10433030" y="3593592"/>
            <a:ext cx="347472" cy="347472"/>
          </a:xfrm>
          <a:prstGeom prst="ellipse">
            <a:avLst/>
          </a:prstGeom>
          <a:solidFill>
            <a:srgbClr val="B4483A"/>
          </a:solidFill>
          <a:ln/>
        </p:spPr>
      </p:sp>
      <p:pic>
        <p:nvPicPr>
          <p:cNvPr id="39" name="Image 5" descr="/home/claude/work/icons/briefc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1211" y="3671773"/>
            <a:ext cx="191110" cy="19111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625340" y="3977640"/>
            <a:ext cx="19628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9643628" y="4187952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the problem later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548640" y="47274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1920240" y="4727448"/>
            <a:ext cx="1871411" cy="365760"/>
          </a:xfrm>
          <a:prstGeom prst="roundRect">
            <a:avLst>
              <a:gd name="adj" fmla="val 20000"/>
            </a:avLst>
          </a:prstGeom>
          <a:solidFill>
            <a:srgbClr val="EEF2F9"/>
          </a:solidFill>
          <a:ln/>
        </p:spPr>
      </p:sp>
      <p:sp>
        <p:nvSpPr>
          <p:cNvPr id="44" name="Text 36"/>
          <p:cNvSpPr/>
          <p:nvPr/>
        </p:nvSpPr>
        <p:spPr>
          <a:xfrm>
            <a:off x="1956816" y="4727448"/>
            <a:ext cx="17982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800" dirty="0"/>
          </a:p>
        </p:txBody>
      </p:sp>
      <p:sp>
        <p:nvSpPr>
          <p:cNvPr id="45" name="Shape 37"/>
          <p:cNvSpPr/>
          <p:nvPr/>
        </p:nvSpPr>
        <p:spPr>
          <a:xfrm>
            <a:off x="3796223" y="4855464"/>
            <a:ext cx="82296" cy="109728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46" name="Shape 38"/>
          <p:cNvSpPr/>
          <p:nvPr/>
        </p:nvSpPr>
        <p:spPr>
          <a:xfrm>
            <a:off x="3883091" y="4727448"/>
            <a:ext cx="1871411" cy="365760"/>
          </a:xfrm>
          <a:prstGeom prst="roundRect">
            <a:avLst>
              <a:gd name="adj" fmla="val 20000"/>
            </a:avLst>
          </a:prstGeom>
          <a:solidFill>
            <a:srgbClr val="EEF2F9"/>
          </a:solidFill>
          <a:ln/>
        </p:spPr>
      </p:sp>
      <p:sp>
        <p:nvSpPr>
          <p:cNvPr id="47" name="Text 39"/>
          <p:cNvSpPr/>
          <p:nvPr/>
        </p:nvSpPr>
        <p:spPr>
          <a:xfrm>
            <a:off x="3919667" y="4727448"/>
            <a:ext cx="17982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48" name="Shape 40"/>
          <p:cNvSpPr/>
          <p:nvPr/>
        </p:nvSpPr>
        <p:spPr>
          <a:xfrm>
            <a:off x="5759074" y="4855464"/>
            <a:ext cx="82296" cy="109728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49" name="Shape 41"/>
          <p:cNvSpPr/>
          <p:nvPr/>
        </p:nvSpPr>
        <p:spPr>
          <a:xfrm>
            <a:off x="5845942" y="4727448"/>
            <a:ext cx="1871411" cy="365760"/>
          </a:xfrm>
          <a:prstGeom prst="roundRect">
            <a:avLst>
              <a:gd name="adj" fmla="val 20000"/>
            </a:avLst>
          </a:prstGeom>
          <a:solidFill>
            <a:srgbClr val="EEF2F9"/>
          </a:solidFill>
          <a:ln/>
        </p:spPr>
      </p:sp>
      <p:sp>
        <p:nvSpPr>
          <p:cNvPr id="50" name="Text 42"/>
          <p:cNvSpPr/>
          <p:nvPr/>
        </p:nvSpPr>
        <p:spPr>
          <a:xfrm>
            <a:off x="5882518" y="4727448"/>
            <a:ext cx="17982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</p:txBody>
      </p:sp>
      <p:sp>
        <p:nvSpPr>
          <p:cNvPr id="51" name="Shape 43"/>
          <p:cNvSpPr/>
          <p:nvPr/>
        </p:nvSpPr>
        <p:spPr>
          <a:xfrm>
            <a:off x="7721925" y="4855464"/>
            <a:ext cx="82296" cy="109728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52" name="Shape 44"/>
          <p:cNvSpPr/>
          <p:nvPr/>
        </p:nvSpPr>
        <p:spPr>
          <a:xfrm>
            <a:off x="7808793" y="4727448"/>
            <a:ext cx="1871411" cy="365760"/>
          </a:xfrm>
          <a:prstGeom prst="roundRect">
            <a:avLst>
              <a:gd name="adj" fmla="val 20000"/>
            </a:avLst>
          </a:prstGeom>
          <a:solidFill>
            <a:srgbClr val="EEF2F9"/>
          </a:solidFill>
          <a:ln/>
        </p:spPr>
      </p:sp>
      <p:sp>
        <p:nvSpPr>
          <p:cNvPr id="53" name="Text 45"/>
          <p:cNvSpPr/>
          <p:nvPr/>
        </p:nvSpPr>
        <p:spPr>
          <a:xfrm>
            <a:off x="7845369" y="4727448"/>
            <a:ext cx="17982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800" dirty="0"/>
          </a:p>
        </p:txBody>
      </p:sp>
      <p:sp>
        <p:nvSpPr>
          <p:cNvPr id="54" name="Shape 46"/>
          <p:cNvSpPr/>
          <p:nvPr/>
        </p:nvSpPr>
        <p:spPr>
          <a:xfrm>
            <a:off x="9684776" y="4855464"/>
            <a:ext cx="82296" cy="109728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55" name="Shape 47"/>
          <p:cNvSpPr/>
          <p:nvPr/>
        </p:nvSpPr>
        <p:spPr>
          <a:xfrm>
            <a:off x="9771644" y="4727448"/>
            <a:ext cx="1871411" cy="365760"/>
          </a:xfrm>
          <a:prstGeom prst="roundRect">
            <a:avLst>
              <a:gd name="adj" fmla="val 20000"/>
            </a:avLst>
          </a:prstGeom>
          <a:solidFill>
            <a:srgbClr val="B4483A"/>
          </a:solidFill>
          <a:ln/>
        </p:spPr>
      </p:sp>
      <p:sp>
        <p:nvSpPr>
          <p:cNvPr id="56" name="Text 48"/>
          <p:cNvSpPr/>
          <p:nvPr/>
        </p:nvSpPr>
        <p:spPr>
          <a:xfrm>
            <a:off x="9808220" y="4727448"/>
            <a:ext cx="17982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00" dirty="0"/>
          </a:p>
        </p:txBody>
      </p:sp>
      <p:sp>
        <p:nvSpPr>
          <p:cNvPr id="57" name="Text 49"/>
          <p:cNvSpPr/>
          <p:nvPr/>
        </p:nvSpPr>
        <p:spPr>
          <a:xfrm>
            <a:off x="548640" y="523951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1920240" y="5239512"/>
            <a:ext cx="1544269" cy="365760"/>
          </a:xfrm>
          <a:prstGeom prst="roundRect">
            <a:avLst>
              <a:gd name="adj" fmla="val 20000"/>
            </a:avLst>
          </a:prstGeom>
          <a:solidFill>
            <a:srgbClr val="EEF2F9"/>
          </a:solidFill>
          <a:ln/>
        </p:spPr>
      </p:sp>
      <p:sp>
        <p:nvSpPr>
          <p:cNvPr id="59" name="Text 51"/>
          <p:cNvSpPr/>
          <p:nvPr/>
        </p:nvSpPr>
        <p:spPr>
          <a:xfrm>
            <a:off x="1956816" y="5239512"/>
            <a:ext cx="14711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800" dirty="0"/>
          </a:p>
        </p:txBody>
      </p:sp>
      <p:sp>
        <p:nvSpPr>
          <p:cNvPr id="60" name="Shape 52"/>
          <p:cNvSpPr/>
          <p:nvPr/>
        </p:nvSpPr>
        <p:spPr>
          <a:xfrm>
            <a:off x="3469081" y="5367528"/>
            <a:ext cx="82296" cy="109728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61" name="Shape 53"/>
          <p:cNvSpPr/>
          <p:nvPr/>
        </p:nvSpPr>
        <p:spPr>
          <a:xfrm>
            <a:off x="3555949" y="5239512"/>
            <a:ext cx="1544269" cy="365760"/>
          </a:xfrm>
          <a:prstGeom prst="roundRect">
            <a:avLst>
              <a:gd name="adj" fmla="val 20000"/>
            </a:avLst>
          </a:prstGeom>
          <a:solidFill>
            <a:srgbClr val="EEF2F9"/>
          </a:solidFill>
          <a:ln/>
        </p:spPr>
      </p:sp>
      <p:sp>
        <p:nvSpPr>
          <p:cNvPr id="62" name="Text 54"/>
          <p:cNvSpPr/>
          <p:nvPr/>
        </p:nvSpPr>
        <p:spPr>
          <a:xfrm>
            <a:off x="3592525" y="5239512"/>
            <a:ext cx="14711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5104790" y="5367528"/>
            <a:ext cx="82296" cy="109728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64" name="Shape 56"/>
          <p:cNvSpPr/>
          <p:nvPr/>
        </p:nvSpPr>
        <p:spPr>
          <a:xfrm>
            <a:off x="5191658" y="5239512"/>
            <a:ext cx="1544269" cy="365760"/>
          </a:xfrm>
          <a:prstGeom prst="roundRect">
            <a:avLst>
              <a:gd name="adj" fmla="val 20000"/>
            </a:avLst>
          </a:prstGeom>
          <a:solidFill>
            <a:srgbClr val="EEF2F9"/>
          </a:solidFill>
          <a:ln/>
        </p:spPr>
      </p:sp>
      <p:sp>
        <p:nvSpPr>
          <p:cNvPr id="65" name="Text 57"/>
          <p:cNvSpPr/>
          <p:nvPr/>
        </p:nvSpPr>
        <p:spPr>
          <a:xfrm>
            <a:off x="5228234" y="5239512"/>
            <a:ext cx="14711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800" dirty="0"/>
          </a:p>
        </p:txBody>
      </p:sp>
      <p:sp>
        <p:nvSpPr>
          <p:cNvPr id="66" name="Shape 58"/>
          <p:cNvSpPr/>
          <p:nvPr/>
        </p:nvSpPr>
        <p:spPr>
          <a:xfrm>
            <a:off x="6740500" y="5367528"/>
            <a:ext cx="82296" cy="109728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67" name="Shape 59"/>
          <p:cNvSpPr/>
          <p:nvPr/>
        </p:nvSpPr>
        <p:spPr>
          <a:xfrm>
            <a:off x="6827368" y="5239512"/>
            <a:ext cx="1544269" cy="365760"/>
          </a:xfrm>
          <a:prstGeom prst="roundRect">
            <a:avLst>
              <a:gd name="adj" fmla="val 20000"/>
            </a:avLst>
          </a:prstGeom>
          <a:solidFill>
            <a:srgbClr val="EEF2F9"/>
          </a:solidFill>
          <a:ln/>
        </p:spPr>
      </p:sp>
      <p:sp>
        <p:nvSpPr>
          <p:cNvPr id="68" name="Text 60"/>
          <p:cNvSpPr/>
          <p:nvPr/>
        </p:nvSpPr>
        <p:spPr>
          <a:xfrm>
            <a:off x="6863944" y="5239512"/>
            <a:ext cx="14711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00" dirty="0"/>
          </a:p>
        </p:txBody>
      </p:sp>
      <p:sp>
        <p:nvSpPr>
          <p:cNvPr id="69" name="Shape 61"/>
          <p:cNvSpPr/>
          <p:nvPr/>
        </p:nvSpPr>
        <p:spPr>
          <a:xfrm>
            <a:off x="8376209" y="5367528"/>
            <a:ext cx="82296" cy="109728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70" name="Shape 62"/>
          <p:cNvSpPr/>
          <p:nvPr/>
        </p:nvSpPr>
        <p:spPr>
          <a:xfrm>
            <a:off x="8463077" y="5239512"/>
            <a:ext cx="1544269" cy="365760"/>
          </a:xfrm>
          <a:prstGeom prst="roundRect">
            <a:avLst>
              <a:gd name="adj" fmla="val 20000"/>
            </a:avLst>
          </a:prstGeom>
          <a:solidFill>
            <a:srgbClr val="EEF2F9"/>
          </a:solidFill>
          <a:ln/>
        </p:spPr>
      </p:sp>
      <p:sp>
        <p:nvSpPr>
          <p:cNvPr id="71" name="Text 63"/>
          <p:cNvSpPr/>
          <p:nvPr/>
        </p:nvSpPr>
        <p:spPr>
          <a:xfrm>
            <a:off x="8499653" y="5239512"/>
            <a:ext cx="14711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  <p:sp>
        <p:nvSpPr>
          <p:cNvPr id="72" name="Shape 64"/>
          <p:cNvSpPr/>
          <p:nvPr/>
        </p:nvSpPr>
        <p:spPr>
          <a:xfrm>
            <a:off x="10011918" y="5367528"/>
            <a:ext cx="82296" cy="109728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73" name="Shape 65"/>
          <p:cNvSpPr/>
          <p:nvPr/>
        </p:nvSpPr>
        <p:spPr>
          <a:xfrm>
            <a:off x="10098786" y="5239512"/>
            <a:ext cx="1544269" cy="365760"/>
          </a:xfrm>
          <a:prstGeom prst="roundRect">
            <a:avLst>
              <a:gd name="adj" fmla="val 20000"/>
            </a:avLst>
          </a:prstGeom>
          <a:solidFill>
            <a:srgbClr val="1E7A4C"/>
          </a:solidFill>
          <a:ln/>
        </p:spPr>
      </p:sp>
      <p:sp>
        <p:nvSpPr>
          <p:cNvPr id="74" name="Text 66"/>
          <p:cNvSpPr/>
          <p:nvPr/>
        </p:nvSpPr>
        <p:spPr>
          <a:xfrm>
            <a:off x="10135362" y="5239512"/>
            <a:ext cx="14711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00" dirty="0"/>
          </a:p>
        </p:txBody>
      </p:sp>
      <p:sp>
        <p:nvSpPr>
          <p:cNvPr id="75" name="Text 67"/>
          <p:cNvSpPr/>
          <p:nvPr/>
        </p:nvSpPr>
        <p:spPr>
          <a:xfrm>
            <a:off x="548640" y="573328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PROBLEMS TARGETED</a:t>
            </a:r>
            <a:endParaRPr lang="en-US" sz="950" dirty="0"/>
          </a:p>
        </p:txBody>
      </p:sp>
      <p:sp>
        <p:nvSpPr>
          <p:cNvPr id="76" name="Shape 68"/>
          <p:cNvSpPr/>
          <p:nvPr/>
        </p:nvSpPr>
        <p:spPr>
          <a:xfrm>
            <a:off x="548640" y="6025896"/>
            <a:ext cx="292608" cy="292608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77" name="Image 6" descr="/home/claude/work/icons/ale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7" y="6091733"/>
            <a:ext cx="160934" cy="160934"/>
          </a:xfrm>
          <a:prstGeom prst="rect">
            <a:avLst/>
          </a:prstGeom>
        </p:spPr>
      </p:pic>
      <p:sp>
        <p:nvSpPr>
          <p:cNvPr id="78" name="Text 69"/>
          <p:cNvSpPr/>
          <p:nvPr/>
        </p:nvSpPr>
        <p:spPr>
          <a:xfrm>
            <a:off x="932688" y="5989320"/>
            <a:ext cx="22523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risk signals</a:t>
            </a:r>
            <a:endParaRPr lang="en-US" sz="900" dirty="0"/>
          </a:p>
        </p:txBody>
      </p:sp>
      <p:sp>
        <p:nvSpPr>
          <p:cNvPr id="79" name="Shape 70"/>
          <p:cNvSpPr/>
          <p:nvPr/>
        </p:nvSpPr>
        <p:spPr>
          <a:xfrm>
            <a:off x="3367964" y="6025896"/>
            <a:ext cx="292608" cy="292608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80" name="Image 7" descr="/home/claude/work/icons/fi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3801" y="6091733"/>
            <a:ext cx="160934" cy="160934"/>
          </a:xfrm>
          <a:prstGeom prst="rect">
            <a:avLst/>
          </a:prstGeom>
        </p:spPr>
      </p:pic>
      <p:sp>
        <p:nvSpPr>
          <p:cNvPr id="81" name="Text 71"/>
          <p:cNvSpPr/>
          <p:nvPr/>
        </p:nvSpPr>
        <p:spPr>
          <a:xfrm>
            <a:off x="3752012" y="5989320"/>
            <a:ext cx="22523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cross-functional reporting</a:t>
            </a:r>
            <a:endParaRPr lang="en-US" sz="900" dirty="0"/>
          </a:p>
        </p:txBody>
      </p:sp>
      <p:sp>
        <p:nvSpPr>
          <p:cNvPr id="82" name="Shape 72"/>
          <p:cNvSpPr/>
          <p:nvPr/>
        </p:nvSpPr>
        <p:spPr>
          <a:xfrm>
            <a:off x="6187288" y="6025896"/>
            <a:ext cx="292608" cy="292608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83" name="Image 8" descr="/home/claude/work/icons/tren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3124" y="6091733"/>
            <a:ext cx="160934" cy="160934"/>
          </a:xfrm>
          <a:prstGeom prst="rect">
            <a:avLst/>
          </a:prstGeom>
        </p:spPr>
      </p:pic>
      <p:sp>
        <p:nvSpPr>
          <p:cNvPr id="84" name="Text 73"/>
          <p:cNvSpPr/>
          <p:nvPr/>
        </p:nvSpPr>
        <p:spPr>
          <a:xfrm>
            <a:off x="6571336" y="5989320"/>
            <a:ext cx="22523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resource allocation</a:t>
            </a:r>
            <a:endParaRPr lang="en-US" sz="900" dirty="0"/>
          </a:p>
        </p:txBody>
      </p:sp>
      <p:sp>
        <p:nvSpPr>
          <p:cNvPr id="85" name="Shape 74"/>
          <p:cNvSpPr/>
          <p:nvPr/>
        </p:nvSpPr>
        <p:spPr>
          <a:xfrm>
            <a:off x="9006611" y="6025896"/>
            <a:ext cx="292608" cy="292608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86" name="Image 9" descr="/home/claude/work/icons/boo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2448" y="6091733"/>
            <a:ext cx="160934" cy="160934"/>
          </a:xfrm>
          <a:prstGeom prst="rect">
            <a:avLst/>
          </a:prstGeom>
        </p:spPr>
      </p:pic>
      <p:sp>
        <p:nvSpPr>
          <p:cNvPr id="87" name="Text 75"/>
          <p:cNvSpPr/>
          <p:nvPr/>
        </p:nvSpPr>
        <p:spPr>
          <a:xfrm>
            <a:off x="9390659" y="5989320"/>
            <a:ext cx="22523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institutional memory</a:t>
            </a:r>
            <a:endParaRPr lang="en-US" sz="900" dirty="0"/>
          </a:p>
        </p:txBody>
      </p:sp>
      <p:sp>
        <p:nvSpPr>
          <p:cNvPr id="88" name="Text 76"/>
          <p:cNvSpPr/>
          <p:nvPr/>
        </p:nvSpPr>
        <p:spPr>
          <a:xfrm>
            <a:off x="548640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  ·  Autonomous Enterprise Intelligence Platform</a:t>
            </a:r>
            <a:endParaRPr lang="en-US" sz="850" dirty="0"/>
          </a:p>
        </p:txBody>
      </p:sp>
      <p:sp>
        <p:nvSpPr>
          <p:cNvPr id="89" name="Text 77"/>
          <p:cNvSpPr/>
          <p:nvPr/>
        </p:nvSpPr>
        <p:spPr>
          <a:xfrm>
            <a:off x="8899855" y="6473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 ·  Review 1  ·  03 / 12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/college_logo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1185855" y="29260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· EXISTING SYSTEMS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Current Solutions Stop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920240" cy="420624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" y="169164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Approach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468880" y="1691640"/>
            <a:ext cx="2331720" cy="420624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8" name="Text 5"/>
          <p:cNvSpPr/>
          <p:nvPr/>
        </p:nvSpPr>
        <p:spPr>
          <a:xfrm>
            <a:off x="2578608" y="169164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Strength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800600" y="1691640"/>
            <a:ext cx="1140409" cy="420624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10" name="Text 7"/>
          <p:cNvSpPr/>
          <p:nvPr/>
        </p:nvSpPr>
        <p:spPr>
          <a:xfrm>
            <a:off x="4818888" y="1691640"/>
            <a:ext cx="11038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</a:t>
            </a:r>
            <a:endParaRPr lang="en-US" sz="7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730" dirty="0"/>
          </a:p>
        </p:txBody>
      </p:sp>
      <p:sp>
        <p:nvSpPr>
          <p:cNvPr id="11" name="Shape 8"/>
          <p:cNvSpPr/>
          <p:nvPr/>
        </p:nvSpPr>
        <p:spPr>
          <a:xfrm>
            <a:off x="5941009" y="1691640"/>
            <a:ext cx="1140409" cy="420624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12" name="Text 9"/>
          <p:cNvSpPr/>
          <p:nvPr/>
        </p:nvSpPr>
        <p:spPr>
          <a:xfrm>
            <a:off x="5959297" y="1691640"/>
            <a:ext cx="11038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7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(KG)</a:t>
            </a:r>
            <a:endParaRPr lang="en-US" sz="730" dirty="0"/>
          </a:p>
        </p:txBody>
      </p:sp>
      <p:sp>
        <p:nvSpPr>
          <p:cNvPr id="13" name="Shape 10"/>
          <p:cNvSpPr/>
          <p:nvPr/>
        </p:nvSpPr>
        <p:spPr>
          <a:xfrm>
            <a:off x="7081418" y="1691640"/>
            <a:ext cx="1140409" cy="420624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14" name="Text 11"/>
          <p:cNvSpPr/>
          <p:nvPr/>
        </p:nvSpPr>
        <p:spPr>
          <a:xfrm>
            <a:off x="7099706" y="1691640"/>
            <a:ext cx="11038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Unstruct.</a:t>
            </a:r>
            <a:endParaRPr lang="en-US" sz="7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(RAG)</a:t>
            </a:r>
            <a:endParaRPr lang="en-US" sz="730" dirty="0"/>
          </a:p>
        </p:txBody>
      </p:sp>
      <p:sp>
        <p:nvSpPr>
          <p:cNvPr id="15" name="Shape 12"/>
          <p:cNvSpPr/>
          <p:nvPr/>
        </p:nvSpPr>
        <p:spPr>
          <a:xfrm>
            <a:off x="8221828" y="1691640"/>
            <a:ext cx="1140409" cy="420624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16" name="Text 13"/>
          <p:cNvSpPr/>
          <p:nvPr/>
        </p:nvSpPr>
        <p:spPr>
          <a:xfrm>
            <a:off x="8240116" y="1691640"/>
            <a:ext cx="11038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Predic-</a:t>
            </a:r>
            <a:endParaRPr lang="en-US" sz="7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tion</a:t>
            </a:r>
            <a:endParaRPr lang="en-US" sz="730" dirty="0"/>
          </a:p>
        </p:txBody>
      </p:sp>
      <p:sp>
        <p:nvSpPr>
          <p:cNvPr id="17" name="Shape 14"/>
          <p:cNvSpPr/>
          <p:nvPr/>
        </p:nvSpPr>
        <p:spPr>
          <a:xfrm>
            <a:off x="9362237" y="1691640"/>
            <a:ext cx="1140409" cy="420624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18" name="Text 15"/>
          <p:cNvSpPr/>
          <p:nvPr/>
        </p:nvSpPr>
        <p:spPr>
          <a:xfrm>
            <a:off x="9380525" y="1691640"/>
            <a:ext cx="11038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</a:t>
            </a:r>
            <a:endParaRPr lang="en-US" sz="7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30" dirty="0"/>
          </a:p>
        </p:txBody>
      </p:sp>
      <p:sp>
        <p:nvSpPr>
          <p:cNvPr id="19" name="Shape 16"/>
          <p:cNvSpPr/>
          <p:nvPr/>
        </p:nvSpPr>
        <p:spPr>
          <a:xfrm>
            <a:off x="10502646" y="1691640"/>
            <a:ext cx="1140409" cy="420624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20" name="Text 17"/>
          <p:cNvSpPr/>
          <p:nvPr/>
        </p:nvSpPr>
        <p:spPr>
          <a:xfrm>
            <a:off x="10520934" y="1691640"/>
            <a:ext cx="110383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Govern-</a:t>
            </a:r>
            <a:endParaRPr lang="en-US" sz="7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</a:t>
            </a:r>
            <a:endParaRPr lang="en-US" sz="730" dirty="0"/>
          </a:p>
        </p:txBody>
      </p:sp>
      <p:sp>
        <p:nvSpPr>
          <p:cNvPr id="21" name="Shape 18"/>
          <p:cNvSpPr/>
          <p:nvPr/>
        </p:nvSpPr>
        <p:spPr>
          <a:xfrm>
            <a:off x="548640" y="2112264"/>
            <a:ext cx="11094415" cy="38404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21122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578608" y="211226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of one system</a:t>
            </a:r>
            <a:endParaRPr lang="en-US" sz="870" dirty="0"/>
          </a:p>
        </p:txBody>
      </p:sp>
      <p:sp>
        <p:nvSpPr>
          <p:cNvPr id="24" name="Text 21"/>
          <p:cNvSpPr/>
          <p:nvPr/>
        </p:nvSpPr>
        <p:spPr>
          <a:xfrm>
            <a:off x="4800600" y="2112264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1009" y="2112264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081418" y="2112264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1828" y="2112264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362237" y="2112264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502646" y="2112264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2496312"/>
            <a:ext cx="11094415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658368" y="249631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578608" y="24963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Microsoft 365 / Dynamics fit</a:t>
            </a:r>
            <a:endParaRPr lang="en-US" sz="870" dirty="0"/>
          </a:p>
        </p:txBody>
      </p:sp>
      <p:sp>
        <p:nvSpPr>
          <p:cNvPr id="33" name="Text 30"/>
          <p:cNvSpPr/>
          <p:nvPr/>
        </p:nvSpPr>
        <p:spPr>
          <a:xfrm>
            <a:off x="4800600" y="2496312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941009" y="2496312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081418" y="2496312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21828" y="2496312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362237" y="2496312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0502646" y="2496312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2880360"/>
            <a:ext cx="11094415" cy="38404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40" name="Text 37"/>
          <p:cNvSpPr/>
          <p:nvPr/>
        </p:nvSpPr>
        <p:spPr>
          <a:xfrm>
            <a:off x="658368" y="28803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Agentforce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2578608" y="28803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CRM-object reasoning</a:t>
            </a:r>
            <a:endParaRPr lang="en-US" sz="870" dirty="0"/>
          </a:p>
        </p:txBody>
      </p:sp>
      <p:sp>
        <p:nvSpPr>
          <p:cNvPr id="42" name="Text 39"/>
          <p:cNvSpPr/>
          <p:nvPr/>
        </p:nvSpPr>
        <p:spPr>
          <a:xfrm>
            <a:off x="4800600" y="2880360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941009" y="2880360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081418" y="2880360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221828" y="2880360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362237" y="2880360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0502646" y="2880360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548640" y="3264408"/>
            <a:ext cx="11094415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/>
          <p:nvPr/>
        </p:nvSpPr>
        <p:spPr>
          <a:xfrm>
            <a:off x="658368" y="32644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Joule / ServiceNow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2578608" y="32644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ERP / workflow integration</a:t>
            </a:r>
            <a:endParaRPr lang="en-US" sz="870" dirty="0"/>
          </a:p>
        </p:txBody>
      </p:sp>
      <p:sp>
        <p:nvSpPr>
          <p:cNvPr id="51" name="Text 48"/>
          <p:cNvSpPr/>
          <p:nvPr/>
        </p:nvSpPr>
        <p:spPr>
          <a:xfrm>
            <a:off x="4800600" y="3264408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941009" y="3264408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7081418" y="3264408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8221828" y="3264408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9362237" y="3264408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10502646" y="3264408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48640" y="3648456"/>
            <a:ext cx="11094415" cy="38404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58" name="Text 55"/>
          <p:cNvSpPr/>
          <p:nvPr/>
        </p:nvSpPr>
        <p:spPr>
          <a:xfrm>
            <a:off x="658368" y="36484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Systems (research)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2578608" y="364845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grounding</a:t>
            </a:r>
            <a:endParaRPr lang="en-US" sz="870" dirty="0"/>
          </a:p>
        </p:txBody>
      </p:sp>
      <p:sp>
        <p:nvSpPr>
          <p:cNvPr id="60" name="Text 57"/>
          <p:cNvSpPr/>
          <p:nvPr/>
        </p:nvSpPr>
        <p:spPr>
          <a:xfrm>
            <a:off x="4800600" y="3648456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5941009" y="3648456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7081418" y="3648456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8221828" y="3648456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9362237" y="3648456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10502646" y="3648456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548640" y="4032504"/>
            <a:ext cx="11094415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4"/>
          <p:cNvSpPr/>
          <p:nvPr/>
        </p:nvSpPr>
        <p:spPr>
          <a:xfrm>
            <a:off x="658368" y="40325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Systems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2578608" y="403250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reasoning</a:t>
            </a:r>
            <a:endParaRPr lang="en-US" sz="870" dirty="0"/>
          </a:p>
        </p:txBody>
      </p:sp>
      <p:sp>
        <p:nvSpPr>
          <p:cNvPr id="69" name="Text 66"/>
          <p:cNvSpPr/>
          <p:nvPr/>
        </p:nvSpPr>
        <p:spPr>
          <a:xfrm>
            <a:off x="4800600" y="4032504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5941009" y="4032504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71" name="Text 68"/>
          <p:cNvSpPr/>
          <p:nvPr/>
        </p:nvSpPr>
        <p:spPr>
          <a:xfrm>
            <a:off x="7081418" y="4032504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72" name="Text 69"/>
          <p:cNvSpPr/>
          <p:nvPr/>
        </p:nvSpPr>
        <p:spPr>
          <a:xfrm>
            <a:off x="8221828" y="4032504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9362237" y="4032504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74" name="Text 71"/>
          <p:cNvSpPr/>
          <p:nvPr/>
        </p:nvSpPr>
        <p:spPr>
          <a:xfrm>
            <a:off x="10502646" y="4032504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548640" y="4416552"/>
            <a:ext cx="11094415" cy="38404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76" name="Text 73"/>
          <p:cNvSpPr/>
          <p:nvPr/>
        </p:nvSpPr>
        <p:spPr>
          <a:xfrm>
            <a:off x="658368" y="44165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Systems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2578608" y="441655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Single-task automation</a:t>
            </a:r>
            <a:endParaRPr lang="en-US" sz="870" dirty="0"/>
          </a:p>
        </p:txBody>
      </p:sp>
      <p:sp>
        <p:nvSpPr>
          <p:cNvPr id="78" name="Text 75"/>
          <p:cNvSpPr/>
          <p:nvPr/>
        </p:nvSpPr>
        <p:spPr>
          <a:xfrm>
            <a:off x="4800600" y="4416552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5941009" y="4416552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0" name="Text 77"/>
          <p:cNvSpPr/>
          <p:nvPr/>
        </p:nvSpPr>
        <p:spPr>
          <a:xfrm>
            <a:off x="7081418" y="4416552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8221828" y="4416552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2" name="Text 79"/>
          <p:cNvSpPr/>
          <p:nvPr/>
        </p:nvSpPr>
        <p:spPr>
          <a:xfrm>
            <a:off x="9362237" y="4416552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83" name="Text 80"/>
          <p:cNvSpPr/>
          <p:nvPr/>
        </p:nvSpPr>
        <p:spPr>
          <a:xfrm>
            <a:off x="10502646" y="4416552"/>
            <a:ext cx="114040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100" dirty="0"/>
          </a:p>
        </p:txBody>
      </p:sp>
      <p:sp>
        <p:nvSpPr>
          <p:cNvPr id="84" name="Shape 81"/>
          <p:cNvSpPr/>
          <p:nvPr/>
        </p:nvSpPr>
        <p:spPr>
          <a:xfrm>
            <a:off x="548640" y="4800600"/>
            <a:ext cx="11094415" cy="420624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85" name="Text 82"/>
          <p:cNvSpPr/>
          <p:nvPr/>
        </p:nvSpPr>
        <p:spPr>
          <a:xfrm>
            <a:off x="658368" y="480060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 (proposed)</a:t>
            </a:r>
            <a:endParaRPr lang="en-US" sz="930" dirty="0"/>
          </a:p>
        </p:txBody>
      </p:sp>
      <p:sp>
        <p:nvSpPr>
          <p:cNvPr id="86" name="Text 83"/>
          <p:cNvSpPr/>
          <p:nvPr/>
        </p:nvSpPr>
        <p:spPr>
          <a:xfrm>
            <a:off x="2578608" y="4800600"/>
            <a:ext cx="2148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decision support</a:t>
            </a:r>
            <a:endParaRPr lang="en-US" sz="870" dirty="0"/>
          </a:p>
        </p:txBody>
      </p:sp>
      <p:sp>
        <p:nvSpPr>
          <p:cNvPr id="87" name="Text 84"/>
          <p:cNvSpPr/>
          <p:nvPr/>
        </p:nvSpPr>
        <p:spPr>
          <a:xfrm>
            <a:off x="4800600" y="4800600"/>
            <a:ext cx="114040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88" name="Text 85"/>
          <p:cNvSpPr/>
          <p:nvPr/>
        </p:nvSpPr>
        <p:spPr>
          <a:xfrm>
            <a:off x="5941009" y="4800600"/>
            <a:ext cx="114040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89" name="Text 86"/>
          <p:cNvSpPr/>
          <p:nvPr/>
        </p:nvSpPr>
        <p:spPr>
          <a:xfrm>
            <a:off x="7081418" y="4800600"/>
            <a:ext cx="114040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90" name="Text 87"/>
          <p:cNvSpPr/>
          <p:nvPr/>
        </p:nvSpPr>
        <p:spPr>
          <a:xfrm>
            <a:off x="8221828" y="4800600"/>
            <a:ext cx="114040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91" name="Text 88"/>
          <p:cNvSpPr/>
          <p:nvPr/>
        </p:nvSpPr>
        <p:spPr>
          <a:xfrm>
            <a:off x="9362237" y="4800600"/>
            <a:ext cx="114040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92" name="Text 89"/>
          <p:cNvSpPr/>
          <p:nvPr/>
        </p:nvSpPr>
        <p:spPr>
          <a:xfrm>
            <a:off x="10502646" y="4800600"/>
            <a:ext cx="114040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93" name="Shape 90"/>
          <p:cNvSpPr/>
          <p:nvPr/>
        </p:nvSpPr>
        <p:spPr>
          <a:xfrm>
            <a:off x="548640" y="1691640"/>
            <a:ext cx="11094415" cy="3529584"/>
          </a:xfrm>
          <a:prstGeom prst="rect">
            <a:avLst/>
          </a:prstGeom>
          <a:ln w="12700">
            <a:solidFill>
              <a:srgbClr val="DCE3F0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548640" y="5312664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 ● strong / present    ◐ partial    ○ limited or absent</a:t>
            </a:r>
            <a:endParaRPr lang="en-US" sz="800" dirty="0"/>
          </a:p>
        </p:txBody>
      </p:sp>
      <p:sp>
        <p:nvSpPr>
          <p:cNvPr id="95" name="Text 92"/>
          <p:cNvSpPr/>
          <p:nvPr/>
        </p:nvSpPr>
        <p:spPr>
          <a:xfrm>
            <a:off x="548640" y="555040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 investigates </a:t>
            </a:r>
            <a:pPr indent="0" marL="0">
              <a:lnSpc>
                <a:spcPct val="120000"/>
              </a:lnSpc>
              <a:buNone/>
            </a:pPr>
            <a:r>
              <a:rPr lang="en-US" sz="10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interoperable architecture combining Enterprise Twin + Knowledge Graph + Hybrid RAG + Predictive Intelligence + Multi-Agent Reasoning + Human Governance</a:t>
            </a:r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cross-functional decision support in mid-sized organizations.</a:t>
            </a:r>
            <a:endParaRPr lang="en-US" sz="1030" dirty="0"/>
          </a:p>
        </p:txBody>
      </p:sp>
      <p:sp>
        <p:nvSpPr>
          <p:cNvPr id="96" name="Text 93"/>
          <p:cNvSpPr/>
          <p:nvPr/>
        </p:nvSpPr>
        <p:spPr>
          <a:xfrm>
            <a:off x="548640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  ·  Autonomous Enterprise Intelligence Platform</a:t>
            </a:r>
            <a:endParaRPr lang="en-US" sz="850" dirty="0"/>
          </a:p>
        </p:txBody>
      </p:sp>
      <p:sp>
        <p:nvSpPr>
          <p:cNvPr id="97" name="Text 94"/>
          <p:cNvSpPr/>
          <p:nvPr/>
        </p:nvSpPr>
        <p:spPr>
          <a:xfrm>
            <a:off x="8899855" y="6473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 ·  Review 1  ·  04 / 12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/college_logo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1185855" y="29260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02 · RELEVANCE OF OBJECTIVES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Business Problem to Measurable Outcome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2651760" cy="384048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6" name="Text 3"/>
          <p:cNvSpPr/>
          <p:nvPr/>
        </p:nvSpPr>
        <p:spPr>
          <a:xfrm>
            <a:off x="694944" y="16916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00400" y="1691640"/>
            <a:ext cx="4297680" cy="384048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8" name="Text 5"/>
          <p:cNvSpPr/>
          <p:nvPr/>
        </p:nvSpPr>
        <p:spPr>
          <a:xfrm>
            <a:off x="3346704" y="16916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98080" y="1691640"/>
            <a:ext cx="4144975" cy="384048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10" name="Text 7"/>
          <p:cNvSpPr/>
          <p:nvPr/>
        </p:nvSpPr>
        <p:spPr>
          <a:xfrm>
            <a:off x="7644384" y="1691640"/>
            <a:ext cx="3870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075688"/>
            <a:ext cx="2651760" cy="47548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" y="20756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enterprise data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3200400" y="2075688"/>
            <a:ext cx="4297680" cy="47548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14" name="Text 11"/>
          <p:cNvSpPr/>
          <p:nvPr/>
        </p:nvSpPr>
        <p:spPr>
          <a:xfrm>
            <a:off x="3346704" y="207568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CSV connector layer + common schema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7498080" y="2075688"/>
            <a:ext cx="4144975" cy="47548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16" name="Text 13"/>
          <p:cNvSpPr/>
          <p:nvPr/>
        </p:nvSpPr>
        <p:spPr>
          <a:xfrm>
            <a:off x="7644384" y="2075688"/>
            <a:ext cx="387065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data availability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548640" y="2551176"/>
            <a:ext cx="26517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94944" y="255117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relationships</a:t>
            </a:r>
            <a:endParaRPr lang="en-US" sz="1030" dirty="0"/>
          </a:p>
        </p:txBody>
      </p:sp>
      <p:sp>
        <p:nvSpPr>
          <p:cNvPr id="19" name="Shape 16"/>
          <p:cNvSpPr/>
          <p:nvPr/>
        </p:nvSpPr>
        <p:spPr>
          <a:xfrm>
            <a:off x="3200400" y="2551176"/>
            <a:ext cx="42976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3346704" y="255117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knowledge graph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7498080" y="2551176"/>
            <a:ext cx="4144975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7644384" y="2551176"/>
            <a:ext cx="387065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Relationship-aware queries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548640" y="2551176"/>
            <a:ext cx="11094415" cy="914"/>
          </a:xfrm>
          <a:prstGeom prst="line">
            <a:avLst/>
          </a:prstGeom>
          <a:noFill/>
          <a:ln w="9525">
            <a:solidFill>
              <a:srgbClr val="E2E7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3026664"/>
            <a:ext cx="2651760" cy="47548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25" name="Text 22"/>
          <p:cNvSpPr/>
          <p:nvPr/>
        </p:nvSpPr>
        <p:spPr>
          <a:xfrm>
            <a:off x="694944" y="302666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access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3200400" y="3026664"/>
            <a:ext cx="4297680" cy="47548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27" name="Text 24"/>
          <p:cNvSpPr/>
          <p:nvPr/>
        </p:nvSpPr>
        <p:spPr>
          <a:xfrm>
            <a:off x="3346704" y="302666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graph + vector RAG</a:t>
            </a:r>
            <a:endParaRPr lang="en-US" sz="960" dirty="0"/>
          </a:p>
        </p:txBody>
      </p:sp>
      <p:sp>
        <p:nvSpPr>
          <p:cNvPr id="28" name="Shape 25"/>
          <p:cNvSpPr/>
          <p:nvPr/>
        </p:nvSpPr>
        <p:spPr>
          <a:xfrm>
            <a:off x="7498080" y="3026664"/>
            <a:ext cx="4144975" cy="47548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29" name="Text 26"/>
          <p:cNvSpPr/>
          <p:nvPr/>
        </p:nvSpPr>
        <p:spPr>
          <a:xfrm>
            <a:off x="7644384" y="3026664"/>
            <a:ext cx="387065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evidence-backed answers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548640" y="3026664"/>
            <a:ext cx="11094415" cy="914"/>
          </a:xfrm>
          <a:prstGeom prst="line">
            <a:avLst/>
          </a:prstGeom>
          <a:noFill/>
          <a:ln w="9525">
            <a:solidFill>
              <a:srgbClr val="E2E7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8640" y="3502152"/>
            <a:ext cx="26517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694944" y="35021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reasoning</a:t>
            </a:r>
            <a:endParaRPr lang="en-US" sz="1030" dirty="0"/>
          </a:p>
        </p:txBody>
      </p:sp>
      <p:sp>
        <p:nvSpPr>
          <p:cNvPr id="33" name="Shape 30"/>
          <p:cNvSpPr/>
          <p:nvPr/>
        </p:nvSpPr>
        <p:spPr>
          <a:xfrm>
            <a:off x="3200400" y="3502152"/>
            <a:ext cx="42976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3346704" y="350215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+ CEO Agent</a:t>
            </a:r>
            <a:endParaRPr lang="en-US" sz="960" dirty="0"/>
          </a:p>
        </p:txBody>
      </p:sp>
      <p:sp>
        <p:nvSpPr>
          <p:cNvPr id="35" name="Shape 32"/>
          <p:cNvSpPr/>
          <p:nvPr/>
        </p:nvSpPr>
        <p:spPr>
          <a:xfrm>
            <a:off x="7498080" y="3502152"/>
            <a:ext cx="4144975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/>
          <p:nvPr/>
        </p:nvSpPr>
        <p:spPr>
          <a:xfrm>
            <a:off x="7644384" y="3502152"/>
            <a:ext cx="387065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recommendations</a:t>
            </a:r>
            <a:endParaRPr lang="en-US" sz="960" dirty="0"/>
          </a:p>
        </p:txBody>
      </p:sp>
      <p:sp>
        <p:nvSpPr>
          <p:cNvPr id="37" name="Shape 34"/>
          <p:cNvSpPr/>
          <p:nvPr/>
        </p:nvSpPr>
        <p:spPr>
          <a:xfrm>
            <a:off x="548640" y="3502152"/>
            <a:ext cx="11094415" cy="914"/>
          </a:xfrm>
          <a:prstGeom prst="line">
            <a:avLst/>
          </a:prstGeom>
          <a:noFill/>
          <a:ln w="9525">
            <a:solidFill>
              <a:srgbClr val="E2E7F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48640" y="3977640"/>
            <a:ext cx="2651760" cy="47548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9" name="Text 36"/>
          <p:cNvSpPr/>
          <p:nvPr/>
        </p:nvSpPr>
        <p:spPr>
          <a:xfrm>
            <a:off x="694944" y="397764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1030" dirty="0"/>
          </a:p>
        </p:txBody>
      </p:sp>
      <p:sp>
        <p:nvSpPr>
          <p:cNvPr id="40" name="Shape 37"/>
          <p:cNvSpPr/>
          <p:nvPr/>
        </p:nvSpPr>
        <p:spPr>
          <a:xfrm>
            <a:off x="3200400" y="3977640"/>
            <a:ext cx="4297680" cy="47548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41" name="Text 38"/>
          <p:cNvSpPr/>
          <p:nvPr/>
        </p:nvSpPr>
        <p:spPr>
          <a:xfrm>
            <a:off x="3346704" y="39776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churn model + TFT forecasting</a:t>
            </a:r>
            <a:endParaRPr lang="en-US" sz="960" dirty="0"/>
          </a:p>
        </p:txBody>
      </p:sp>
      <p:sp>
        <p:nvSpPr>
          <p:cNvPr id="42" name="Shape 39"/>
          <p:cNvSpPr/>
          <p:nvPr/>
        </p:nvSpPr>
        <p:spPr>
          <a:xfrm>
            <a:off x="7498080" y="3977640"/>
            <a:ext cx="4144975" cy="475488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43" name="Text 40"/>
          <p:cNvSpPr/>
          <p:nvPr/>
        </p:nvSpPr>
        <p:spPr>
          <a:xfrm>
            <a:off x="7644384" y="3977640"/>
            <a:ext cx="387065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/ revenue risk signals</a:t>
            </a:r>
            <a:endParaRPr lang="en-US" sz="960" dirty="0"/>
          </a:p>
        </p:txBody>
      </p:sp>
      <p:sp>
        <p:nvSpPr>
          <p:cNvPr id="44" name="Shape 41"/>
          <p:cNvSpPr/>
          <p:nvPr/>
        </p:nvSpPr>
        <p:spPr>
          <a:xfrm>
            <a:off x="548640" y="3977640"/>
            <a:ext cx="11094415" cy="914"/>
          </a:xfrm>
          <a:prstGeom prst="line">
            <a:avLst/>
          </a:prstGeom>
          <a:noFill/>
          <a:ln w="9525">
            <a:solidFill>
              <a:srgbClr val="E2E7F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48640" y="4453128"/>
            <a:ext cx="26517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/>
          <p:nvPr/>
        </p:nvSpPr>
        <p:spPr>
          <a:xfrm>
            <a:off x="694944" y="44531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validation</a:t>
            </a:r>
            <a:endParaRPr lang="en-US" sz="1030" dirty="0"/>
          </a:p>
        </p:txBody>
      </p:sp>
      <p:sp>
        <p:nvSpPr>
          <p:cNvPr id="47" name="Shape 44"/>
          <p:cNvSpPr/>
          <p:nvPr/>
        </p:nvSpPr>
        <p:spPr>
          <a:xfrm>
            <a:off x="3200400" y="4453128"/>
            <a:ext cx="42976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5"/>
          <p:cNvSpPr/>
          <p:nvPr/>
        </p:nvSpPr>
        <p:spPr>
          <a:xfrm>
            <a:off x="3346704" y="44531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+ quantitative metrics</a:t>
            </a:r>
            <a:endParaRPr lang="en-US" sz="960" dirty="0"/>
          </a:p>
        </p:txBody>
      </p:sp>
      <p:sp>
        <p:nvSpPr>
          <p:cNvPr id="49" name="Shape 46"/>
          <p:cNvSpPr/>
          <p:nvPr/>
        </p:nvSpPr>
        <p:spPr>
          <a:xfrm>
            <a:off x="7498080" y="4453128"/>
            <a:ext cx="4144975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7"/>
          <p:cNvSpPr/>
          <p:nvPr/>
        </p:nvSpPr>
        <p:spPr>
          <a:xfrm>
            <a:off x="7644384" y="4453128"/>
            <a:ext cx="387065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improvement over manual work</a:t>
            </a:r>
            <a:endParaRPr lang="en-US" sz="960" dirty="0"/>
          </a:p>
        </p:txBody>
      </p:sp>
      <p:sp>
        <p:nvSpPr>
          <p:cNvPr id="51" name="Shape 48"/>
          <p:cNvSpPr/>
          <p:nvPr/>
        </p:nvSpPr>
        <p:spPr>
          <a:xfrm>
            <a:off x="548640" y="4453128"/>
            <a:ext cx="11094415" cy="914"/>
          </a:xfrm>
          <a:prstGeom prst="line">
            <a:avLst/>
          </a:prstGeom>
          <a:noFill/>
          <a:ln w="9525">
            <a:solidFill>
              <a:srgbClr val="E2E7F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48640" y="1691640"/>
            <a:ext cx="11094415" cy="3236976"/>
          </a:xfrm>
          <a:prstGeom prst="rect">
            <a:avLst/>
          </a:prstGeom>
          <a:ln w="12700">
            <a:solidFill>
              <a:srgbClr val="DCE3F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48640" y="5221224"/>
            <a:ext cx="2650160" cy="402336"/>
          </a:xfrm>
          <a:prstGeom prst="roundRect">
            <a:avLst>
              <a:gd name="adj" fmla="val 18182"/>
            </a:avLst>
          </a:prstGeom>
          <a:solidFill>
            <a:srgbClr val="16244A"/>
          </a:solidFill>
          <a:ln/>
        </p:spPr>
      </p:sp>
      <p:sp>
        <p:nvSpPr>
          <p:cNvPr id="54" name="Text 51"/>
          <p:cNvSpPr/>
          <p:nvPr/>
        </p:nvSpPr>
        <p:spPr>
          <a:xfrm>
            <a:off x="585216" y="5221224"/>
            <a:ext cx="257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3226232" y="5358384"/>
            <a:ext cx="109728" cy="128016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56" name="Shape 53"/>
          <p:cNvSpPr/>
          <p:nvPr/>
        </p:nvSpPr>
        <p:spPr>
          <a:xfrm>
            <a:off x="3363392" y="5221224"/>
            <a:ext cx="2650160" cy="402336"/>
          </a:xfrm>
          <a:prstGeom prst="roundRect">
            <a:avLst>
              <a:gd name="adj" fmla="val 18182"/>
            </a:avLst>
          </a:prstGeom>
          <a:solidFill>
            <a:srgbClr val="16244A"/>
          </a:solidFill>
          <a:ln/>
        </p:spPr>
      </p:sp>
      <p:sp>
        <p:nvSpPr>
          <p:cNvPr id="57" name="Text 54"/>
          <p:cNvSpPr/>
          <p:nvPr/>
        </p:nvSpPr>
        <p:spPr>
          <a:xfrm>
            <a:off x="3399968" y="5221224"/>
            <a:ext cx="257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6040984" y="5358384"/>
            <a:ext cx="109728" cy="128016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59" name="Shape 56"/>
          <p:cNvSpPr/>
          <p:nvPr/>
        </p:nvSpPr>
        <p:spPr>
          <a:xfrm>
            <a:off x="6178144" y="5221224"/>
            <a:ext cx="2650160" cy="402336"/>
          </a:xfrm>
          <a:prstGeom prst="roundRect">
            <a:avLst>
              <a:gd name="adj" fmla="val 18182"/>
            </a:avLst>
          </a:prstGeom>
          <a:solidFill>
            <a:srgbClr val="16244A"/>
          </a:solidFill>
          <a:ln/>
        </p:spPr>
      </p:sp>
      <p:sp>
        <p:nvSpPr>
          <p:cNvPr id="60" name="Text 57"/>
          <p:cNvSpPr/>
          <p:nvPr/>
        </p:nvSpPr>
        <p:spPr>
          <a:xfrm>
            <a:off x="6214720" y="5221224"/>
            <a:ext cx="257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8855735" y="5358384"/>
            <a:ext cx="109728" cy="128016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62" name="Shape 59"/>
          <p:cNvSpPr/>
          <p:nvPr/>
        </p:nvSpPr>
        <p:spPr>
          <a:xfrm>
            <a:off x="8992895" y="5221224"/>
            <a:ext cx="2650160" cy="402336"/>
          </a:xfrm>
          <a:prstGeom prst="roundRect">
            <a:avLst>
              <a:gd name="adj" fmla="val 18182"/>
            </a:avLst>
          </a:prstGeom>
          <a:solidFill>
            <a:srgbClr val="C9972F"/>
          </a:solidFill>
          <a:ln/>
        </p:spPr>
      </p:sp>
      <p:sp>
        <p:nvSpPr>
          <p:cNvPr id="63" name="Text 60"/>
          <p:cNvSpPr/>
          <p:nvPr/>
        </p:nvSpPr>
        <p:spPr>
          <a:xfrm>
            <a:off x="9029471" y="5221224"/>
            <a:ext cx="257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Metric</a:t>
            </a:r>
            <a:endParaRPr lang="en-US" sz="1050" dirty="0"/>
          </a:p>
        </p:txBody>
      </p:sp>
      <p:sp>
        <p:nvSpPr>
          <p:cNvPr id="64" name="Text 61"/>
          <p:cNvSpPr/>
          <p:nvPr/>
        </p:nvSpPr>
        <p:spPr>
          <a:xfrm>
            <a:off x="548640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  ·  Autonomous Enterprise Intelligence Platform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8899855" y="6473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 ·  Review 1  ·  05 / 12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/college_logo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1185855" y="29260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03 · SCOPE AND SIGNIFICANCE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Build — And What We Will Not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364328" cy="2926080"/>
          </a:xfrm>
          <a:prstGeom prst="roundRect">
            <a:avLst>
              <a:gd name="adj" fmla="val 3125"/>
            </a:avLst>
          </a:prstGeom>
          <a:solidFill>
            <a:srgbClr val="EEF2F9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86384" y="1892808"/>
            <a:ext cx="384048" cy="384048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7" name="Image 1" descr="/home/claude/wor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95" y="1979219"/>
            <a:ext cx="211226" cy="2112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911096"/>
            <a:ext cx="4449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22960" y="2404872"/>
            <a:ext cx="2362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Read-only CRM / ERP-style connectors</a:t>
            </a:r>
            <a:endParaRPr lang="en-US" sz="930" dirty="0"/>
          </a:p>
        </p:txBody>
      </p:sp>
      <p:sp>
        <p:nvSpPr>
          <p:cNvPr id="10" name="Text 6"/>
          <p:cNvSpPr/>
          <p:nvPr/>
        </p:nvSpPr>
        <p:spPr>
          <a:xfrm>
            <a:off x="822960" y="2770632"/>
            <a:ext cx="2362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Common enterprise schema</a:t>
            </a:r>
            <a:endParaRPr lang="en-US" sz="930" dirty="0"/>
          </a:p>
        </p:txBody>
      </p:sp>
      <p:sp>
        <p:nvSpPr>
          <p:cNvPr id="11" name="Text 7"/>
          <p:cNvSpPr/>
          <p:nvPr/>
        </p:nvSpPr>
        <p:spPr>
          <a:xfrm>
            <a:off x="822960" y="3136392"/>
            <a:ext cx="2362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Enterprise Knowledge Graph</a:t>
            </a:r>
            <a:endParaRPr lang="en-US" sz="930" dirty="0"/>
          </a:p>
        </p:txBody>
      </p:sp>
      <p:sp>
        <p:nvSpPr>
          <p:cNvPr id="12" name="Text 8"/>
          <p:cNvSpPr/>
          <p:nvPr/>
        </p:nvSpPr>
        <p:spPr>
          <a:xfrm>
            <a:off x="822960" y="3502152"/>
            <a:ext cx="2362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Hybrid RAG (graph + vector)</a:t>
            </a:r>
            <a:endParaRPr lang="en-US" sz="930" dirty="0"/>
          </a:p>
        </p:txBody>
      </p:sp>
      <p:sp>
        <p:nvSpPr>
          <p:cNvPr id="13" name="Text 9"/>
          <p:cNvSpPr/>
          <p:nvPr/>
        </p:nvSpPr>
        <p:spPr>
          <a:xfrm>
            <a:off x="3367964" y="2404872"/>
            <a:ext cx="2362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Churn prediction model</a:t>
            </a:r>
            <a:endParaRPr lang="en-US" sz="930" dirty="0"/>
          </a:p>
        </p:txBody>
      </p:sp>
      <p:sp>
        <p:nvSpPr>
          <p:cNvPr id="14" name="Text 10"/>
          <p:cNvSpPr/>
          <p:nvPr/>
        </p:nvSpPr>
        <p:spPr>
          <a:xfrm>
            <a:off x="3367964" y="2770632"/>
            <a:ext cx="2362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Revenue forecasting model</a:t>
            </a:r>
            <a:endParaRPr lang="en-US" sz="930" dirty="0"/>
          </a:p>
        </p:txBody>
      </p:sp>
      <p:sp>
        <p:nvSpPr>
          <p:cNvPr id="15" name="Text 11"/>
          <p:cNvSpPr/>
          <p:nvPr/>
        </p:nvSpPr>
        <p:spPr>
          <a:xfrm>
            <a:off x="3367964" y="3136392"/>
            <a:ext cx="2362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Multi-agent reasoning + CEO Agent</a:t>
            </a:r>
            <a:endParaRPr lang="en-US" sz="930" dirty="0"/>
          </a:p>
        </p:txBody>
      </p:sp>
      <p:sp>
        <p:nvSpPr>
          <p:cNvPr id="16" name="Text 12"/>
          <p:cNvSpPr/>
          <p:nvPr/>
        </p:nvSpPr>
        <p:spPr>
          <a:xfrm>
            <a:off x="3367964" y="3502152"/>
            <a:ext cx="2362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Enterprise Copilot + human approval workflow</a:t>
            </a:r>
            <a:endParaRPr lang="en-US" sz="930" dirty="0"/>
          </a:p>
        </p:txBody>
      </p:sp>
      <p:sp>
        <p:nvSpPr>
          <p:cNvPr id="17" name="Shape 13"/>
          <p:cNvSpPr/>
          <p:nvPr/>
        </p:nvSpPr>
        <p:spPr>
          <a:xfrm>
            <a:off x="6278728" y="1691640"/>
            <a:ext cx="5364328" cy="292608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16472" y="1892808"/>
            <a:ext cx="384048" cy="384048"/>
          </a:xfrm>
          <a:prstGeom prst="ellipse">
            <a:avLst/>
          </a:prstGeom>
          <a:solidFill>
            <a:srgbClr val="3A537A"/>
          </a:solidFill>
          <a:ln/>
        </p:spPr>
      </p:sp>
      <p:pic>
        <p:nvPicPr>
          <p:cNvPr id="19" name="Image 2" descr="/home/claude/work/icons/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484" y="1988820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10248" y="1911096"/>
            <a:ext cx="4449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553048" y="2404872"/>
            <a:ext cx="4815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Production write-access to live systems</a:t>
            </a:r>
            <a:endParaRPr lang="en-US" sz="960" dirty="0"/>
          </a:p>
        </p:txBody>
      </p:sp>
      <p:sp>
        <p:nvSpPr>
          <p:cNvPr id="22" name="Text 17"/>
          <p:cNvSpPr/>
          <p:nvPr/>
        </p:nvSpPr>
        <p:spPr>
          <a:xfrm>
            <a:off x="6553048" y="2724912"/>
            <a:ext cx="4815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Fully autonomous external execution</a:t>
            </a:r>
            <a:endParaRPr lang="en-US" sz="960" dirty="0"/>
          </a:p>
        </p:txBody>
      </p:sp>
      <p:sp>
        <p:nvSpPr>
          <p:cNvPr id="23" name="Text 18"/>
          <p:cNvSpPr/>
          <p:nvPr/>
        </p:nvSpPr>
        <p:spPr>
          <a:xfrm>
            <a:off x="6553048" y="3044952"/>
            <a:ext cx="4815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Support for every enterprise platform</a:t>
            </a:r>
            <a:endParaRPr lang="en-US" sz="960" dirty="0"/>
          </a:p>
        </p:txBody>
      </p:sp>
      <p:sp>
        <p:nvSpPr>
          <p:cNvPr id="24" name="Text 19"/>
          <p:cNvSpPr/>
          <p:nvPr/>
        </p:nvSpPr>
        <p:spPr>
          <a:xfrm>
            <a:off x="6553048" y="3364992"/>
            <a:ext cx="4815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Deployment to a real enterprise customer</a:t>
            </a:r>
            <a:endParaRPr lang="en-US" sz="960" dirty="0"/>
          </a:p>
        </p:txBody>
      </p:sp>
      <p:sp>
        <p:nvSpPr>
          <p:cNvPr id="25" name="Text 20"/>
          <p:cNvSpPr/>
          <p:nvPr/>
        </p:nvSpPr>
        <p:spPr>
          <a:xfrm>
            <a:off x="6553048" y="3685032"/>
            <a:ext cx="4815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Replacement of human executives</a:t>
            </a:r>
            <a:endParaRPr lang="en-US" sz="960" dirty="0"/>
          </a:p>
        </p:txBody>
      </p:sp>
      <p:sp>
        <p:nvSpPr>
          <p:cNvPr id="26" name="Shape 21"/>
          <p:cNvSpPr/>
          <p:nvPr/>
        </p:nvSpPr>
        <p:spPr>
          <a:xfrm>
            <a:off x="6553048" y="4096512"/>
            <a:ext cx="4815688" cy="914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553048" y="4178808"/>
            <a:ext cx="481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target: a representative enterprise environment using demo, public, or simulated data.</a:t>
            </a:r>
            <a:endParaRPr lang="en-US" sz="880" dirty="0"/>
          </a:p>
        </p:txBody>
      </p:sp>
      <p:sp>
        <p:nvSpPr>
          <p:cNvPr id="28" name="Shape 23"/>
          <p:cNvSpPr/>
          <p:nvPr/>
        </p:nvSpPr>
        <p:spPr>
          <a:xfrm>
            <a:off x="548640" y="4873752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0F1B3C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841248" y="50200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841248" y="5276088"/>
            <a:ext cx="10509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3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organizations face integration complexity, fragmented information, limited analytics teams, and enterprise platforms priced for much larger companies. AI CEO focuses on affordable, interoperable, human-governed enterprise intelligence — closing exactly that gap.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48640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  ·  Autonomous Enterprise Intelligence Platform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8899855" y="6473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 ·  Review 1  ·  06 / 12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/college_logo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1185855" y="29260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CEO Works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913138" y="1536192"/>
            <a:ext cx="7987979" cy="402336"/>
          </a:xfrm>
          <a:prstGeom prst="roundRect">
            <a:avLst>
              <a:gd name="adj" fmla="val 13636"/>
            </a:avLst>
          </a:prstGeom>
          <a:solidFill>
            <a:srgbClr val="EEF2F9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2866" y="1600200"/>
            <a:ext cx="274320" cy="27432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7" name="Image 1" descr="/home/claude/work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88" y="1661922"/>
            <a:ext cx="150876" cy="1508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6058" y="15361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Sources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884938" y="1536192"/>
            <a:ext cx="483329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ERP · HRMS · Support · Projects · Documents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843120" y="1952244"/>
            <a:ext cx="128016" cy="96012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11" name="Shape 7"/>
          <p:cNvSpPr/>
          <p:nvPr/>
        </p:nvSpPr>
        <p:spPr>
          <a:xfrm>
            <a:off x="913138" y="2061972"/>
            <a:ext cx="7987979" cy="402336"/>
          </a:xfrm>
          <a:prstGeom prst="roundRect">
            <a:avLst>
              <a:gd name="adj" fmla="val 13636"/>
            </a:avLst>
          </a:prstGeom>
          <a:solidFill>
            <a:srgbClr val="EEF2F9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22866" y="2125980"/>
            <a:ext cx="274320" cy="27432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3" name="Image 2" descr="/home/claude/work/icons/sh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588" y="2187702"/>
            <a:ext cx="150876" cy="1508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6058" y="206197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/ Ingestion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884938" y="2061972"/>
            <a:ext cx="483329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GraphQL · CSV/ETL · Schema Mapping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843120" y="2478024"/>
            <a:ext cx="128016" cy="96012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17" name="Shape 12"/>
          <p:cNvSpPr/>
          <p:nvPr/>
        </p:nvSpPr>
        <p:spPr>
          <a:xfrm>
            <a:off x="913138" y="2587752"/>
            <a:ext cx="7987979" cy="402336"/>
          </a:xfrm>
          <a:prstGeom prst="roundRect">
            <a:avLst>
              <a:gd name="adj" fmla="val 13636"/>
            </a:avLst>
          </a:prstGeom>
          <a:solidFill>
            <a:srgbClr val="EEF2F9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22866" y="2651760"/>
            <a:ext cx="274320" cy="27432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9" name="Image 3" descr="/home/claude/work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588" y="2713482"/>
            <a:ext cx="150876" cy="1508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6058" y="25877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Layer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884938" y="2587752"/>
            <a:ext cx="483329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Redis · Document Store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843120" y="3003804"/>
            <a:ext cx="128016" cy="96012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23" name="Shape 17"/>
          <p:cNvSpPr/>
          <p:nvPr/>
        </p:nvSpPr>
        <p:spPr>
          <a:xfrm>
            <a:off x="913138" y="3113532"/>
            <a:ext cx="7987979" cy="402336"/>
          </a:xfrm>
          <a:prstGeom prst="roundRect">
            <a:avLst>
              <a:gd name="adj" fmla="val 13636"/>
            </a:avLst>
          </a:prstGeom>
          <a:solidFill>
            <a:srgbClr val="EEF2F9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22866" y="3177540"/>
            <a:ext cx="274320" cy="27432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5" name="Image 4" descr="/home/claude/work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588" y="3239262"/>
            <a:ext cx="150876" cy="15087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6058" y="311353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Intelligence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3884938" y="3113532"/>
            <a:ext cx="483329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Twin · Knowledge Graph · Vector DB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843120" y="3529584"/>
            <a:ext cx="128016" cy="96012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29" name="Shape 22"/>
          <p:cNvSpPr/>
          <p:nvPr/>
        </p:nvSpPr>
        <p:spPr>
          <a:xfrm>
            <a:off x="913138" y="3639312"/>
            <a:ext cx="7987979" cy="402336"/>
          </a:xfrm>
          <a:prstGeom prst="roundRect">
            <a:avLst>
              <a:gd name="adj" fmla="val 13636"/>
            </a:avLst>
          </a:prstGeom>
          <a:solidFill>
            <a:srgbClr val="EEF2F9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22866" y="3703320"/>
            <a:ext cx="274320" cy="27432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31" name="Image 5" descr="/home/claude/work/icons/cpu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588" y="3765042"/>
            <a:ext cx="150876" cy="1508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16058" y="363931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Data Science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3884938" y="3639312"/>
            <a:ext cx="483329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Model · Forecasting · RAG · LLM Reasoning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843120" y="4055364"/>
            <a:ext cx="128016" cy="96012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35" name="Shape 27"/>
          <p:cNvSpPr/>
          <p:nvPr/>
        </p:nvSpPr>
        <p:spPr>
          <a:xfrm>
            <a:off x="913138" y="4165092"/>
            <a:ext cx="7987979" cy="402336"/>
          </a:xfrm>
          <a:prstGeom prst="roundRect">
            <a:avLst>
              <a:gd name="adj" fmla="val 13636"/>
            </a:avLst>
          </a:prstGeom>
          <a:solidFill>
            <a:srgbClr val="16244A"/>
          </a:solidFill>
          <a:ln/>
        </p:spPr>
      </p:sp>
      <p:sp>
        <p:nvSpPr>
          <p:cNvPr id="36" name="Shape 28"/>
          <p:cNvSpPr/>
          <p:nvPr/>
        </p:nvSpPr>
        <p:spPr>
          <a:xfrm>
            <a:off x="1022866" y="4229100"/>
            <a:ext cx="274320" cy="274320"/>
          </a:xfrm>
          <a:prstGeom prst="ellipse">
            <a:avLst/>
          </a:prstGeom>
          <a:solidFill>
            <a:srgbClr val="C9972F"/>
          </a:solidFill>
          <a:ln/>
        </p:spPr>
      </p:sp>
      <p:pic>
        <p:nvPicPr>
          <p:cNvPr id="37" name="Image 6" descr="/home/claude/work/icons/us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588" y="4290822"/>
            <a:ext cx="150876" cy="15087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416058" y="41650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Intelligence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3884938" y="4165092"/>
            <a:ext cx="483329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Sales · HR · Marketing · Ops · Legal Agents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4843120" y="4581144"/>
            <a:ext cx="128016" cy="96012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41" name="Shape 32"/>
          <p:cNvSpPr/>
          <p:nvPr/>
        </p:nvSpPr>
        <p:spPr>
          <a:xfrm>
            <a:off x="913138" y="4690872"/>
            <a:ext cx="7987979" cy="402336"/>
          </a:xfrm>
          <a:prstGeom prst="roundRect">
            <a:avLst>
              <a:gd name="adj" fmla="val 13636"/>
            </a:avLst>
          </a:prstGeom>
          <a:solidFill>
            <a:srgbClr val="0F1B3C"/>
          </a:solidFill>
          <a:ln/>
        </p:spPr>
      </p:sp>
      <p:sp>
        <p:nvSpPr>
          <p:cNvPr id="42" name="Shape 33"/>
          <p:cNvSpPr/>
          <p:nvPr/>
        </p:nvSpPr>
        <p:spPr>
          <a:xfrm>
            <a:off x="1022866" y="4754880"/>
            <a:ext cx="274320" cy="274320"/>
          </a:xfrm>
          <a:prstGeom prst="ellipse">
            <a:avLst/>
          </a:prstGeom>
          <a:solidFill>
            <a:srgbClr val="C9972F"/>
          </a:solidFill>
          <a:ln/>
        </p:spPr>
      </p:sp>
      <p:pic>
        <p:nvPicPr>
          <p:cNvPr id="43" name="Image 7" descr="/home/claude/work/icons/aw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4588" y="4816602"/>
            <a:ext cx="150876" cy="15087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416058" y="469087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Agent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3884938" y="4690872"/>
            <a:ext cx="483329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reconciliation across all specialist agents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4843120" y="5106924"/>
            <a:ext cx="128016" cy="96012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47" name="Shape 37"/>
          <p:cNvSpPr/>
          <p:nvPr/>
        </p:nvSpPr>
        <p:spPr>
          <a:xfrm>
            <a:off x="913138" y="5216652"/>
            <a:ext cx="7987979" cy="402336"/>
          </a:xfrm>
          <a:prstGeom prst="roundRect">
            <a:avLst>
              <a:gd name="adj" fmla="val 13636"/>
            </a:avLst>
          </a:prstGeom>
          <a:solidFill>
            <a:srgbClr val="3A1E1A"/>
          </a:solidFill>
          <a:ln/>
        </p:spPr>
      </p:sp>
      <p:sp>
        <p:nvSpPr>
          <p:cNvPr id="48" name="Shape 38"/>
          <p:cNvSpPr/>
          <p:nvPr/>
        </p:nvSpPr>
        <p:spPr>
          <a:xfrm>
            <a:off x="1022866" y="5280660"/>
            <a:ext cx="274320" cy="274320"/>
          </a:xfrm>
          <a:prstGeom prst="ellipse">
            <a:avLst/>
          </a:prstGeom>
          <a:solidFill>
            <a:srgbClr val="F2B8AE"/>
          </a:solidFill>
          <a:ln/>
        </p:spPr>
      </p:sp>
      <p:pic>
        <p:nvPicPr>
          <p:cNvPr id="49" name="Image 8" descr="/home/claude/work/icons/shie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4588" y="5342382"/>
            <a:ext cx="150876" cy="150876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1416058" y="52166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Governance</a:t>
            </a:r>
            <a:endParaRPr lang="en-US" sz="1100" dirty="0"/>
          </a:p>
        </p:txBody>
      </p:sp>
      <p:sp>
        <p:nvSpPr>
          <p:cNvPr id="51" name="Text 40"/>
          <p:cNvSpPr/>
          <p:nvPr/>
        </p:nvSpPr>
        <p:spPr>
          <a:xfrm>
            <a:off x="3884938" y="5216652"/>
            <a:ext cx="483329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2D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· Approve · Reject · Modify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9221157" y="1536192"/>
            <a:ext cx="2421898" cy="4082796"/>
          </a:xfrm>
          <a:prstGeom prst="roundRect">
            <a:avLst>
              <a:gd name="adj" fmla="val 3398"/>
            </a:avLst>
          </a:prstGeom>
          <a:solidFill>
            <a:srgbClr val="EEF2F9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53" name="Text 42"/>
          <p:cNvSpPr/>
          <p:nvPr/>
        </p:nvSpPr>
        <p:spPr>
          <a:xfrm>
            <a:off x="9422325" y="1700784"/>
            <a:ext cx="20561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STACK</a:t>
            </a:r>
            <a:endParaRPr lang="en-US" sz="950" dirty="0"/>
          </a:p>
        </p:txBody>
      </p:sp>
      <p:sp>
        <p:nvSpPr>
          <p:cNvPr id="54" name="Text 43"/>
          <p:cNvSpPr/>
          <p:nvPr/>
        </p:nvSpPr>
        <p:spPr>
          <a:xfrm>
            <a:off x="9422325" y="1993392"/>
            <a:ext cx="201956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upward from raw enterprise systems into structured intelligence, then into AI reasoning. Every agent recommendation is reconciled by the CEO Agent and stops at a human governance gate before any action is taken.</a:t>
            </a:r>
            <a:endParaRPr lang="en-US" sz="950" dirty="0"/>
          </a:p>
        </p:txBody>
      </p:sp>
      <p:sp>
        <p:nvSpPr>
          <p:cNvPr id="55" name="Shape 44"/>
          <p:cNvSpPr/>
          <p:nvPr/>
        </p:nvSpPr>
        <p:spPr>
          <a:xfrm>
            <a:off x="9422325" y="3593592"/>
            <a:ext cx="2019562" cy="914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56" name="Text 45"/>
          <p:cNvSpPr/>
          <p:nvPr/>
        </p:nvSpPr>
        <p:spPr>
          <a:xfrm>
            <a:off x="9422325" y="3730752"/>
            <a:ext cx="20561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850" dirty="0"/>
          </a:p>
        </p:txBody>
      </p:sp>
      <p:sp>
        <p:nvSpPr>
          <p:cNvPr id="57" name="Text 46"/>
          <p:cNvSpPr/>
          <p:nvPr/>
        </p:nvSpPr>
        <p:spPr>
          <a:xfrm>
            <a:off x="9422325" y="3950208"/>
            <a:ext cx="20561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→ Intelligence → Agents</a:t>
            </a:r>
            <a:endParaRPr lang="en-US" sz="830" dirty="0"/>
          </a:p>
        </p:txBody>
      </p:sp>
      <p:sp>
        <p:nvSpPr>
          <p:cNvPr id="58" name="Text 47"/>
          <p:cNvSpPr/>
          <p:nvPr/>
        </p:nvSpPr>
        <p:spPr>
          <a:xfrm>
            <a:off x="9422325" y="4261104"/>
            <a:ext cx="20561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/ GOVERNANCE</a:t>
            </a:r>
            <a:endParaRPr lang="en-US" sz="850" dirty="0"/>
          </a:p>
        </p:txBody>
      </p:sp>
      <p:sp>
        <p:nvSpPr>
          <p:cNvPr id="59" name="Text 48"/>
          <p:cNvSpPr/>
          <p:nvPr/>
        </p:nvSpPr>
        <p:spPr>
          <a:xfrm>
            <a:off x="9422325" y="4480560"/>
            <a:ext cx="20561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Agent → Human → Action</a:t>
            </a:r>
            <a:endParaRPr lang="en-US" sz="830" dirty="0"/>
          </a:p>
        </p:txBody>
      </p:sp>
      <p:sp>
        <p:nvSpPr>
          <p:cNvPr id="60" name="Text 49"/>
          <p:cNvSpPr/>
          <p:nvPr/>
        </p:nvSpPr>
        <p:spPr>
          <a:xfrm>
            <a:off x="548640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  ·  Autonomous Enterprise Intelligence Platform</a:t>
            </a:r>
            <a:endParaRPr lang="en-US" sz="850" dirty="0"/>
          </a:p>
        </p:txBody>
      </p:sp>
      <p:sp>
        <p:nvSpPr>
          <p:cNvPr id="61" name="Text 50"/>
          <p:cNvSpPr/>
          <p:nvPr/>
        </p:nvSpPr>
        <p:spPr>
          <a:xfrm>
            <a:off x="8899855" y="6473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 ·  Review 1  ·  07 / 12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/college_logo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1185855" y="29260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 CEO Needs Both Graph Reasoning and RAG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515258" cy="3246120"/>
          </a:xfrm>
          <a:prstGeom prst="roundRect">
            <a:avLst>
              <a:gd name="adj" fmla="val 2535"/>
            </a:avLst>
          </a:prstGeom>
          <a:solidFill>
            <a:srgbClr val="EEF2F9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8096" y="1847088"/>
            <a:ext cx="384048" cy="384048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7" name="Image 1" descr="/home/claude/work/icons/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1943100"/>
            <a:ext cx="192024" cy="192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61872" y="1883664"/>
            <a:ext cx="26008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Twin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68096" y="2304288"/>
            <a:ext cx="30580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organizational state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68096" y="2651760"/>
            <a:ext cx="3076346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04672" y="2651760"/>
            <a:ext cx="3003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68096" y="2962656"/>
            <a:ext cx="3076346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4672" y="2962656"/>
            <a:ext cx="3003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68096" y="3273552"/>
            <a:ext cx="3076346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" y="3273552"/>
            <a:ext cx="3003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68096" y="3584448"/>
            <a:ext cx="3076346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04672" y="3584448"/>
            <a:ext cx="3003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68096" y="3895344"/>
            <a:ext cx="3076346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04672" y="3895344"/>
            <a:ext cx="3003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68096" y="4206240"/>
            <a:ext cx="3076346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04672" y="4206240"/>
            <a:ext cx="3003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68096" y="4517136"/>
            <a:ext cx="3076346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04672" y="4517136"/>
            <a:ext cx="300319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338218" y="1645920"/>
            <a:ext cx="3515258" cy="3246120"/>
          </a:xfrm>
          <a:prstGeom prst="roundRect">
            <a:avLst>
              <a:gd name="adj" fmla="val 2535"/>
            </a:avLst>
          </a:prstGeom>
          <a:solidFill>
            <a:srgbClr val="0F1B3C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57674" y="1847088"/>
            <a:ext cx="384048" cy="384048"/>
          </a:xfrm>
          <a:prstGeom prst="ellipse">
            <a:avLst/>
          </a:prstGeom>
          <a:solidFill>
            <a:srgbClr val="C9972F"/>
          </a:solidFill>
          <a:ln/>
        </p:spPr>
      </p:sp>
      <p:pic>
        <p:nvPicPr>
          <p:cNvPr id="26" name="Image 2" descr="/home/claude/work/icons/sh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686" y="1943100"/>
            <a:ext cx="192024" cy="19202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051450" y="1883664"/>
            <a:ext cx="26008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4557674" y="2304288"/>
            <a:ext cx="30580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are entities related?”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539386" y="2514600"/>
            <a:ext cx="3112922" cy="201168"/>
          </a:xfrm>
          <a:prstGeom prst="roundRect">
            <a:avLst>
              <a:gd name="adj" fmla="val 36364"/>
            </a:avLst>
          </a:prstGeom>
          <a:solidFill>
            <a:srgbClr val="1C2C55"/>
          </a:solidFill>
          <a:ln/>
        </p:spPr>
      </p:sp>
      <p:sp>
        <p:nvSpPr>
          <p:cNvPr id="30" name="Text 25"/>
          <p:cNvSpPr/>
          <p:nvPr/>
        </p:nvSpPr>
        <p:spPr>
          <a:xfrm>
            <a:off x="4575962" y="2514600"/>
            <a:ext cx="303977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30" dirty="0"/>
          </a:p>
        </p:txBody>
      </p:sp>
      <p:sp>
        <p:nvSpPr>
          <p:cNvPr id="31" name="Text 26"/>
          <p:cNvSpPr/>
          <p:nvPr/>
        </p:nvSpPr>
        <p:spPr>
          <a:xfrm>
            <a:off x="4539386" y="2715768"/>
            <a:ext cx="311292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4539386" y="2843784"/>
            <a:ext cx="3112922" cy="201168"/>
          </a:xfrm>
          <a:prstGeom prst="roundRect">
            <a:avLst>
              <a:gd name="adj" fmla="val 36364"/>
            </a:avLst>
          </a:prstGeom>
          <a:solidFill>
            <a:srgbClr val="1C2C55"/>
          </a:solidFill>
          <a:ln/>
        </p:spPr>
      </p:sp>
      <p:sp>
        <p:nvSpPr>
          <p:cNvPr id="33" name="Text 28"/>
          <p:cNvSpPr/>
          <p:nvPr/>
        </p:nvSpPr>
        <p:spPr>
          <a:xfrm>
            <a:off x="4575962" y="2843784"/>
            <a:ext cx="303977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</a:t>
            </a:r>
            <a:endParaRPr lang="en-US" sz="830" dirty="0"/>
          </a:p>
        </p:txBody>
      </p:sp>
      <p:sp>
        <p:nvSpPr>
          <p:cNvPr id="34" name="Shape 29"/>
          <p:cNvSpPr/>
          <p:nvPr/>
        </p:nvSpPr>
        <p:spPr>
          <a:xfrm>
            <a:off x="4539386" y="3118104"/>
            <a:ext cx="3112922" cy="201168"/>
          </a:xfrm>
          <a:prstGeom prst="roundRect">
            <a:avLst>
              <a:gd name="adj" fmla="val 36364"/>
            </a:avLst>
          </a:prstGeom>
          <a:solidFill>
            <a:srgbClr val="1C2C55"/>
          </a:solidFill>
          <a:ln/>
        </p:spPr>
      </p:sp>
      <p:sp>
        <p:nvSpPr>
          <p:cNvPr id="35" name="Text 30"/>
          <p:cNvSpPr/>
          <p:nvPr/>
        </p:nvSpPr>
        <p:spPr>
          <a:xfrm>
            <a:off x="4575962" y="3118104"/>
            <a:ext cx="303977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</a:t>
            </a:r>
            <a:endParaRPr lang="en-US" sz="830" dirty="0"/>
          </a:p>
        </p:txBody>
      </p:sp>
      <p:sp>
        <p:nvSpPr>
          <p:cNvPr id="36" name="Text 31"/>
          <p:cNvSpPr/>
          <p:nvPr/>
        </p:nvSpPr>
        <p:spPr>
          <a:xfrm>
            <a:off x="4539386" y="3319272"/>
            <a:ext cx="311292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4539386" y="3447288"/>
            <a:ext cx="3112922" cy="201168"/>
          </a:xfrm>
          <a:prstGeom prst="roundRect">
            <a:avLst>
              <a:gd name="adj" fmla="val 36364"/>
            </a:avLst>
          </a:prstGeom>
          <a:solidFill>
            <a:srgbClr val="1C2C55"/>
          </a:solidFill>
          <a:ln/>
        </p:spPr>
      </p:sp>
      <p:sp>
        <p:nvSpPr>
          <p:cNvPr id="38" name="Text 33"/>
          <p:cNvSpPr/>
          <p:nvPr/>
        </p:nvSpPr>
        <p:spPr>
          <a:xfrm>
            <a:off x="4575962" y="3447288"/>
            <a:ext cx="303977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30" dirty="0"/>
          </a:p>
        </p:txBody>
      </p:sp>
      <p:sp>
        <p:nvSpPr>
          <p:cNvPr id="39" name="Shape 34"/>
          <p:cNvSpPr/>
          <p:nvPr/>
        </p:nvSpPr>
        <p:spPr>
          <a:xfrm>
            <a:off x="4539386" y="3721608"/>
            <a:ext cx="3112922" cy="201168"/>
          </a:xfrm>
          <a:prstGeom prst="roundRect">
            <a:avLst>
              <a:gd name="adj" fmla="val 36364"/>
            </a:avLst>
          </a:prstGeom>
          <a:solidFill>
            <a:srgbClr val="1C2C55"/>
          </a:solidFill>
          <a:ln/>
        </p:spPr>
      </p:sp>
      <p:sp>
        <p:nvSpPr>
          <p:cNvPr id="40" name="Text 35"/>
          <p:cNvSpPr/>
          <p:nvPr/>
        </p:nvSpPr>
        <p:spPr>
          <a:xfrm>
            <a:off x="4575962" y="3721608"/>
            <a:ext cx="303977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30" dirty="0"/>
          </a:p>
        </p:txBody>
      </p:sp>
      <p:sp>
        <p:nvSpPr>
          <p:cNvPr id="41" name="Text 36"/>
          <p:cNvSpPr/>
          <p:nvPr/>
        </p:nvSpPr>
        <p:spPr>
          <a:xfrm>
            <a:off x="4539386" y="3922776"/>
            <a:ext cx="311292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</a:t>
            </a:r>
            <a:endParaRPr lang="en-US" sz="700" dirty="0"/>
          </a:p>
        </p:txBody>
      </p:sp>
      <p:sp>
        <p:nvSpPr>
          <p:cNvPr id="42" name="Shape 37"/>
          <p:cNvSpPr/>
          <p:nvPr/>
        </p:nvSpPr>
        <p:spPr>
          <a:xfrm>
            <a:off x="4539386" y="4050792"/>
            <a:ext cx="3112922" cy="201168"/>
          </a:xfrm>
          <a:prstGeom prst="roundRect">
            <a:avLst>
              <a:gd name="adj" fmla="val 36364"/>
            </a:avLst>
          </a:prstGeom>
          <a:solidFill>
            <a:srgbClr val="1C2C55"/>
          </a:solidFill>
          <a:ln/>
        </p:spPr>
      </p:sp>
      <p:sp>
        <p:nvSpPr>
          <p:cNvPr id="43" name="Text 38"/>
          <p:cNvSpPr/>
          <p:nvPr/>
        </p:nvSpPr>
        <p:spPr>
          <a:xfrm>
            <a:off x="4575962" y="4050792"/>
            <a:ext cx="303977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830" dirty="0"/>
          </a:p>
        </p:txBody>
      </p:sp>
      <p:sp>
        <p:nvSpPr>
          <p:cNvPr id="44" name="Shape 39"/>
          <p:cNvSpPr/>
          <p:nvPr/>
        </p:nvSpPr>
        <p:spPr>
          <a:xfrm>
            <a:off x="4539386" y="4325112"/>
            <a:ext cx="3112922" cy="201168"/>
          </a:xfrm>
          <a:prstGeom prst="roundRect">
            <a:avLst>
              <a:gd name="adj" fmla="val 36364"/>
            </a:avLst>
          </a:prstGeom>
          <a:solidFill>
            <a:srgbClr val="1C2C55"/>
          </a:solidFill>
          <a:ln/>
        </p:spPr>
      </p:sp>
      <p:sp>
        <p:nvSpPr>
          <p:cNvPr id="45" name="Text 40"/>
          <p:cNvSpPr/>
          <p:nvPr/>
        </p:nvSpPr>
        <p:spPr>
          <a:xfrm>
            <a:off x="4575962" y="4325112"/>
            <a:ext cx="303977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830" dirty="0"/>
          </a:p>
        </p:txBody>
      </p:sp>
      <p:sp>
        <p:nvSpPr>
          <p:cNvPr id="46" name="Text 41"/>
          <p:cNvSpPr/>
          <p:nvPr/>
        </p:nvSpPr>
        <p:spPr>
          <a:xfrm>
            <a:off x="4539386" y="4526280"/>
            <a:ext cx="311292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WORKS_ON</a:t>
            </a:r>
            <a:endParaRPr lang="en-US" sz="700" dirty="0"/>
          </a:p>
        </p:txBody>
      </p:sp>
      <p:sp>
        <p:nvSpPr>
          <p:cNvPr id="47" name="Shape 42"/>
          <p:cNvSpPr/>
          <p:nvPr/>
        </p:nvSpPr>
        <p:spPr>
          <a:xfrm>
            <a:off x="4539386" y="4654296"/>
            <a:ext cx="3112922" cy="201168"/>
          </a:xfrm>
          <a:prstGeom prst="roundRect">
            <a:avLst>
              <a:gd name="adj" fmla="val 36364"/>
            </a:avLst>
          </a:prstGeom>
          <a:solidFill>
            <a:srgbClr val="1C2C55"/>
          </a:solidFill>
          <a:ln/>
        </p:spPr>
      </p:sp>
      <p:sp>
        <p:nvSpPr>
          <p:cNvPr id="48" name="Text 43"/>
          <p:cNvSpPr/>
          <p:nvPr/>
        </p:nvSpPr>
        <p:spPr>
          <a:xfrm>
            <a:off x="4575962" y="4654296"/>
            <a:ext cx="303977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30" dirty="0"/>
          </a:p>
        </p:txBody>
      </p:sp>
      <p:sp>
        <p:nvSpPr>
          <p:cNvPr id="49" name="Shape 44"/>
          <p:cNvSpPr/>
          <p:nvPr/>
        </p:nvSpPr>
        <p:spPr>
          <a:xfrm>
            <a:off x="8127797" y="1645920"/>
            <a:ext cx="3515258" cy="3246120"/>
          </a:xfrm>
          <a:prstGeom prst="roundRect">
            <a:avLst>
              <a:gd name="adj" fmla="val 2535"/>
            </a:avLst>
          </a:prstGeom>
          <a:solidFill>
            <a:srgbClr val="EEF2F9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8347253" y="1847088"/>
            <a:ext cx="384048" cy="384048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51" name="Image 3" descr="/home/claude/work/icons/ms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265" y="1943100"/>
            <a:ext cx="192024" cy="192024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8841029" y="1883664"/>
            <a:ext cx="26008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</a:t>
            </a:r>
            <a:endParaRPr lang="en-US" sz="1300" dirty="0"/>
          </a:p>
        </p:txBody>
      </p:sp>
      <p:sp>
        <p:nvSpPr>
          <p:cNvPr id="53" name="Text 47"/>
          <p:cNvSpPr/>
          <p:nvPr/>
        </p:nvSpPr>
        <p:spPr>
          <a:xfrm>
            <a:off x="8347253" y="2304288"/>
            <a:ext cx="30580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documents say?”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8328965" y="2651760"/>
            <a:ext cx="311292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8365541" y="2651760"/>
            <a:ext cx="303977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Retrieval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(Knowledge Graph)</a:t>
            </a:r>
            <a:endParaRPr lang="en-US" sz="830" dirty="0"/>
          </a:p>
        </p:txBody>
      </p:sp>
      <p:sp>
        <p:nvSpPr>
          <p:cNvPr id="56" name="Shape 50"/>
          <p:cNvSpPr/>
          <p:nvPr/>
        </p:nvSpPr>
        <p:spPr>
          <a:xfrm>
            <a:off x="8328965" y="3163824"/>
            <a:ext cx="311292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8365541" y="3163824"/>
            <a:ext cx="303977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Retrieval</a:t>
            </a:r>
            <a:endParaRPr lang="en-US" sz="8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(Vector Search)</a:t>
            </a:r>
            <a:endParaRPr lang="en-US" sz="830" dirty="0"/>
          </a:p>
        </p:txBody>
      </p:sp>
      <p:sp>
        <p:nvSpPr>
          <p:cNvPr id="58" name="Shape 52"/>
          <p:cNvSpPr/>
          <p:nvPr/>
        </p:nvSpPr>
        <p:spPr>
          <a:xfrm>
            <a:off x="8328965" y="3675888"/>
            <a:ext cx="311292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8365541" y="3675888"/>
            <a:ext cx="303977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/ Access Control</a:t>
            </a:r>
            <a:endParaRPr lang="en-US" sz="830" dirty="0"/>
          </a:p>
        </p:txBody>
      </p:sp>
      <p:sp>
        <p:nvSpPr>
          <p:cNvPr id="60" name="Shape 54"/>
          <p:cNvSpPr/>
          <p:nvPr/>
        </p:nvSpPr>
        <p:spPr>
          <a:xfrm>
            <a:off x="9830562" y="4224528"/>
            <a:ext cx="109728" cy="118872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61" name="Shape 55"/>
          <p:cNvSpPr/>
          <p:nvPr/>
        </p:nvSpPr>
        <p:spPr>
          <a:xfrm>
            <a:off x="8328965" y="4389120"/>
            <a:ext cx="3112922" cy="274320"/>
          </a:xfrm>
          <a:prstGeom prst="roundRect">
            <a:avLst>
              <a:gd name="adj" fmla="val 26667"/>
            </a:avLst>
          </a:prstGeom>
          <a:solidFill>
            <a:srgbClr val="0F1B3C"/>
          </a:solidFill>
          <a:ln/>
        </p:spPr>
      </p:sp>
      <p:sp>
        <p:nvSpPr>
          <p:cNvPr id="62" name="Text 56"/>
          <p:cNvSpPr/>
          <p:nvPr/>
        </p:nvSpPr>
        <p:spPr>
          <a:xfrm>
            <a:off x="8365541" y="4389120"/>
            <a:ext cx="30397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Fusion → LLM</a:t>
            </a:r>
            <a:endParaRPr lang="en-US" sz="900" dirty="0"/>
          </a:p>
        </p:txBody>
      </p:sp>
      <p:sp>
        <p:nvSpPr>
          <p:cNvPr id="63" name="Shape 57"/>
          <p:cNvSpPr/>
          <p:nvPr/>
        </p:nvSpPr>
        <p:spPr>
          <a:xfrm>
            <a:off x="548640" y="509320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EF2F9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64" name="Text 58"/>
          <p:cNvSpPr/>
          <p:nvPr/>
        </p:nvSpPr>
        <p:spPr>
          <a:xfrm>
            <a:off x="777240" y="5093208"/>
            <a:ext cx="106372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</a:t>
            </a:r>
            <a:pPr indent="0" marL="0">
              <a:lnSpc>
                <a:spcPct val="115000"/>
              </a:lnSpc>
              <a:buNone/>
            </a:pPr>
            <a:r>
              <a:rPr lang="en-US" sz="1080" i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are these entities related — AND what evidence exists in enterprise documents?”  </a:t>
            </a:r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fusion is the key architectural insight behind AI CEO.</a:t>
            </a:r>
            <a:endParaRPr lang="en-US" sz="1080" dirty="0"/>
          </a:p>
        </p:txBody>
      </p:sp>
      <p:sp>
        <p:nvSpPr>
          <p:cNvPr id="65" name="Text 59"/>
          <p:cNvSpPr/>
          <p:nvPr/>
        </p:nvSpPr>
        <p:spPr>
          <a:xfrm>
            <a:off x="548640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  ·  Autonomous Enterprise Intelligence Platform</a:t>
            </a:r>
            <a:endParaRPr lang="en-US" sz="850" dirty="0"/>
          </a:p>
        </p:txBody>
      </p:sp>
      <p:sp>
        <p:nvSpPr>
          <p:cNvPr id="66" name="Text 60"/>
          <p:cNvSpPr/>
          <p:nvPr/>
        </p:nvSpPr>
        <p:spPr>
          <a:xfrm>
            <a:off x="8899855" y="6473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 ·  Review 1  ·  08 / 12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/college_logo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1185855" y="29260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INTELLIGENCE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Specialized Experts to One Governed Recommendation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1000868" y="1874520"/>
            <a:ext cx="402336" cy="402336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7" name="Image 1" descr="/home/claude/work/icons/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29" y="1971081"/>
            <a:ext cx="209215" cy="2092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2331720"/>
            <a:ext cx="1489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2399100" y="1874520"/>
            <a:ext cx="402336" cy="402336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0" name="Image 2" descr="/home/claude/work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60" y="1971081"/>
            <a:ext cx="209215" cy="2092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55432" y="2331720"/>
            <a:ext cx="1489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3797332" y="1874520"/>
            <a:ext cx="402336" cy="402336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3" name="Image 3" descr="/home/claude/wor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3892" y="1971081"/>
            <a:ext cx="209215" cy="2092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253664" y="2331720"/>
            <a:ext cx="1489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800" dirty="0"/>
          </a:p>
        </p:txBody>
      </p:sp>
      <p:sp>
        <p:nvSpPr>
          <p:cNvPr id="15" name="Shape 9"/>
          <p:cNvSpPr/>
          <p:nvPr/>
        </p:nvSpPr>
        <p:spPr>
          <a:xfrm>
            <a:off x="5195564" y="1874520"/>
            <a:ext cx="402336" cy="402336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6" name="Image 4" descr="/home/claude/work/icons/tre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24" y="1971081"/>
            <a:ext cx="209215" cy="20921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51896" y="2331720"/>
            <a:ext cx="1489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00" dirty="0"/>
          </a:p>
        </p:txBody>
      </p:sp>
      <p:sp>
        <p:nvSpPr>
          <p:cNvPr id="18" name="Shape 11"/>
          <p:cNvSpPr/>
          <p:nvPr/>
        </p:nvSpPr>
        <p:spPr>
          <a:xfrm>
            <a:off x="6593796" y="1874520"/>
            <a:ext cx="402336" cy="402336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9" name="Image 5" descr="/home/claude/work/icons/slid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356" y="1971081"/>
            <a:ext cx="209215" cy="20921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50128" y="2331720"/>
            <a:ext cx="1489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21" name="Shape 13"/>
          <p:cNvSpPr/>
          <p:nvPr/>
        </p:nvSpPr>
        <p:spPr>
          <a:xfrm>
            <a:off x="7992027" y="1874520"/>
            <a:ext cx="402336" cy="402336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2" name="Image 6" descr="/home/claude/work/icons/aw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8588" y="1971081"/>
            <a:ext cx="209215" cy="20921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448360" y="2331720"/>
            <a:ext cx="1489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800" dirty="0"/>
          </a:p>
        </p:txBody>
      </p:sp>
      <p:sp>
        <p:nvSpPr>
          <p:cNvPr id="24" name="Shape 15"/>
          <p:cNvSpPr/>
          <p:nvPr/>
        </p:nvSpPr>
        <p:spPr>
          <a:xfrm>
            <a:off x="9390259" y="1874520"/>
            <a:ext cx="402336" cy="402336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5" name="Image 7" descr="/home/claude/work/icons/heads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820" y="1971081"/>
            <a:ext cx="209215" cy="20921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846591" y="2331720"/>
            <a:ext cx="1489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Cust. Success</a:t>
            </a:r>
            <a:endParaRPr lang="en-US" sz="800" dirty="0"/>
          </a:p>
        </p:txBody>
      </p:sp>
      <p:sp>
        <p:nvSpPr>
          <p:cNvPr id="27" name="Shape 17"/>
          <p:cNvSpPr/>
          <p:nvPr/>
        </p:nvSpPr>
        <p:spPr>
          <a:xfrm>
            <a:off x="10788491" y="1874520"/>
            <a:ext cx="402336" cy="402336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8" name="Image 8" descr="/home/claude/work/icons/searc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85052" y="1971081"/>
            <a:ext cx="209215" cy="20921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0244823" y="2331720"/>
            <a:ext cx="1489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00" dirty="0"/>
          </a:p>
        </p:txBody>
      </p:sp>
      <p:sp>
        <p:nvSpPr>
          <p:cNvPr id="30" name="Shape 19"/>
          <p:cNvSpPr/>
          <p:nvPr/>
        </p:nvSpPr>
        <p:spPr>
          <a:xfrm>
            <a:off x="548640" y="2807208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31" name="Text 20"/>
          <p:cNvSpPr/>
          <p:nvPr/>
        </p:nvSpPr>
        <p:spPr>
          <a:xfrm>
            <a:off x="749808" y="293522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SALES AGENT</a:t>
            </a:r>
            <a:endParaRPr lang="en-US" sz="900" dirty="0"/>
          </a:p>
        </p:txBody>
      </p:sp>
      <p:sp>
        <p:nvSpPr>
          <p:cNvPr id="32" name="Text 21"/>
          <p:cNvSpPr/>
          <p:nvPr/>
        </p:nvSpPr>
        <p:spPr>
          <a:xfrm>
            <a:off x="749808" y="320954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</a:t>
            </a:r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data + customer history + churn probability</a:t>
            </a:r>
            <a:endParaRPr lang="en-US" sz="860" dirty="0"/>
          </a:p>
        </p:txBody>
      </p:sp>
      <p:sp>
        <p:nvSpPr>
          <p:cNvPr id="33" name="Text 22"/>
          <p:cNvSpPr/>
          <p:nvPr/>
        </p:nvSpPr>
        <p:spPr>
          <a:xfrm>
            <a:off x="749808" y="352044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 </a:t>
            </a:r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Renewal-risk analysis against account value</a:t>
            </a:r>
            <a:endParaRPr lang="en-US" sz="860" dirty="0"/>
          </a:p>
        </p:txBody>
      </p:sp>
      <p:sp>
        <p:nvSpPr>
          <p:cNvPr id="34" name="Text 23"/>
          <p:cNvSpPr/>
          <p:nvPr/>
        </p:nvSpPr>
        <p:spPr>
          <a:xfrm>
            <a:off x="749808" y="383133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recommendation with supporting evidence</a:t>
            </a:r>
            <a:endParaRPr lang="en-US" sz="860" dirty="0"/>
          </a:p>
        </p:txBody>
      </p:sp>
      <p:sp>
        <p:nvSpPr>
          <p:cNvPr id="35" name="Shape 24"/>
          <p:cNvSpPr/>
          <p:nvPr/>
        </p:nvSpPr>
        <p:spPr>
          <a:xfrm>
            <a:off x="4983480" y="2807208"/>
            <a:ext cx="6659575" cy="292608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/>
        </p:spPr>
      </p:sp>
      <p:sp>
        <p:nvSpPr>
          <p:cNvPr id="36" name="Text 25"/>
          <p:cNvSpPr/>
          <p:nvPr/>
        </p:nvSpPr>
        <p:spPr>
          <a:xfrm>
            <a:off x="5020056" y="2807208"/>
            <a:ext cx="65864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Specialized Agents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8258404" y="3105302"/>
            <a:ext cx="109728" cy="64008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38" name="Shape 27"/>
          <p:cNvSpPr/>
          <p:nvPr/>
        </p:nvSpPr>
        <p:spPr>
          <a:xfrm>
            <a:off x="4983480" y="3178454"/>
            <a:ext cx="6659575" cy="292608"/>
          </a:xfrm>
          <a:prstGeom prst="roundRect">
            <a:avLst>
              <a:gd name="adj" fmla="val 25000"/>
            </a:avLst>
          </a:prstGeom>
          <a:solidFill>
            <a:srgbClr val="0F1B3C"/>
          </a:solidFill>
          <a:ln/>
        </p:spPr>
      </p:sp>
      <p:sp>
        <p:nvSpPr>
          <p:cNvPr id="39" name="Text 28"/>
          <p:cNvSpPr/>
          <p:nvPr/>
        </p:nvSpPr>
        <p:spPr>
          <a:xfrm>
            <a:off x="5020056" y="3178454"/>
            <a:ext cx="65864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Agent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8258404" y="3476549"/>
            <a:ext cx="109728" cy="64008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41" name="Shape 30"/>
          <p:cNvSpPr/>
          <p:nvPr/>
        </p:nvSpPr>
        <p:spPr>
          <a:xfrm>
            <a:off x="4983480" y="3549701"/>
            <a:ext cx="6659575" cy="292608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/>
        </p:spPr>
      </p:sp>
      <p:sp>
        <p:nvSpPr>
          <p:cNvPr id="42" name="Text 31"/>
          <p:cNvSpPr/>
          <p:nvPr/>
        </p:nvSpPr>
        <p:spPr>
          <a:xfrm>
            <a:off x="5020056" y="3549701"/>
            <a:ext cx="65864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950" dirty="0"/>
          </a:p>
        </p:txBody>
      </p:sp>
      <p:sp>
        <p:nvSpPr>
          <p:cNvPr id="43" name="Shape 32"/>
          <p:cNvSpPr/>
          <p:nvPr/>
        </p:nvSpPr>
        <p:spPr>
          <a:xfrm>
            <a:off x="8258404" y="3847795"/>
            <a:ext cx="109728" cy="64008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44" name="Shape 33"/>
          <p:cNvSpPr/>
          <p:nvPr/>
        </p:nvSpPr>
        <p:spPr>
          <a:xfrm>
            <a:off x="4983480" y="3920947"/>
            <a:ext cx="6659575" cy="292608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/>
        </p:spPr>
      </p:sp>
      <p:sp>
        <p:nvSpPr>
          <p:cNvPr id="45" name="Text 34"/>
          <p:cNvSpPr/>
          <p:nvPr/>
        </p:nvSpPr>
        <p:spPr>
          <a:xfrm>
            <a:off x="5020056" y="3920947"/>
            <a:ext cx="65864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Reconciliation</a:t>
            </a:r>
            <a:endParaRPr lang="en-US" sz="950" dirty="0"/>
          </a:p>
        </p:txBody>
      </p:sp>
      <p:sp>
        <p:nvSpPr>
          <p:cNvPr id="46" name="Shape 35"/>
          <p:cNvSpPr/>
          <p:nvPr/>
        </p:nvSpPr>
        <p:spPr>
          <a:xfrm>
            <a:off x="8258404" y="4219042"/>
            <a:ext cx="109728" cy="64008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47" name="Shape 36"/>
          <p:cNvSpPr/>
          <p:nvPr/>
        </p:nvSpPr>
        <p:spPr>
          <a:xfrm>
            <a:off x="4983480" y="4292194"/>
            <a:ext cx="6659575" cy="292608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/>
        </p:spPr>
      </p:sp>
      <p:sp>
        <p:nvSpPr>
          <p:cNvPr id="48" name="Text 37"/>
          <p:cNvSpPr/>
          <p:nvPr/>
        </p:nvSpPr>
        <p:spPr>
          <a:xfrm>
            <a:off x="5020056" y="4292194"/>
            <a:ext cx="65864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Ranking</a:t>
            </a:r>
            <a:endParaRPr lang="en-US" sz="950" dirty="0"/>
          </a:p>
        </p:txBody>
      </p:sp>
      <p:sp>
        <p:nvSpPr>
          <p:cNvPr id="49" name="Shape 38"/>
          <p:cNvSpPr/>
          <p:nvPr/>
        </p:nvSpPr>
        <p:spPr>
          <a:xfrm>
            <a:off x="8258404" y="4590288"/>
            <a:ext cx="109728" cy="64008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50" name="Shape 39"/>
          <p:cNvSpPr/>
          <p:nvPr/>
        </p:nvSpPr>
        <p:spPr>
          <a:xfrm>
            <a:off x="4983480" y="4663440"/>
            <a:ext cx="6659575" cy="292608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/>
        </p:spPr>
      </p:sp>
      <p:sp>
        <p:nvSpPr>
          <p:cNvPr id="51" name="Text 40"/>
          <p:cNvSpPr/>
          <p:nvPr/>
        </p:nvSpPr>
        <p:spPr>
          <a:xfrm>
            <a:off x="5020056" y="4663440"/>
            <a:ext cx="65864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Recommendation</a:t>
            </a:r>
            <a:endParaRPr lang="en-US" sz="950" dirty="0"/>
          </a:p>
        </p:txBody>
      </p:sp>
      <p:sp>
        <p:nvSpPr>
          <p:cNvPr id="52" name="Shape 41"/>
          <p:cNvSpPr/>
          <p:nvPr/>
        </p:nvSpPr>
        <p:spPr>
          <a:xfrm>
            <a:off x="8258404" y="4961534"/>
            <a:ext cx="109728" cy="64008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53" name="Shape 42"/>
          <p:cNvSpPr/>
          <p:nvPr/>
        </p:nvSpPr>
        <p:spPr>
          <a:xfrm>
            <a:off x="4983480" y="5034686"/>
            <a:ext cx="6659575" cy="292608"/>
          </a:xfrm>
          <a:prstGeom prst="roundRect">
            <a:avLst>
              <a:gd name="adj" fmla="val 25000"/>
            </a:avLst>
          </a:prstGeom>
          <a:solidFill>
            <a:srgbClr val="0F1B3C"/>
          </a:solidFill>
          <a:ln/>
        </p:spPr>
      </p:sp>
      <p:sp>
        <p:nvSpPr>
          <p:cNvPr id="54" name="Text 43"/>
          <p:cNvSpPr/>
          <p:nvPr/>
        </p:nvSpPr>
        <p:spPr>
          <a:xfrm>
            <a:off x="5020056" y="5034686"/>
            <a:ext cx="658642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950" dirty="0"/>
          </a:p>
        </p:txBody>
      </p:sp>
      <p:sp>
        <p:nvSpPr>
          <p:cNvPr id="55" name="Shape 44"/>
          <p:cNvSpPr/>
          <p:nvPr/>
        </p:nvSpPr>
        <p:spPr>
          <a:xfrm>
            <a:off x="548640" y="4379976"/>
            <a:ext cx="4160520" cy="1143000"/>
          </a:xfrm>
          <a:prstGeom prst="roundRect">
            <a:avLst>
              <a:gd name="adj" fmla="val 7200"/>
            </a:avLst>
          </a:prstGeom>
          <a:solidFill>
            <a:srgbClr val="0F1B3C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56" name="Text 45"/>
          <p:cNvSpPr/>
          <p:nvPr/>
        </p:nvSpPr>
        <p:spPr>
          <a:xfrm>
            <a:off x="749808" y="45079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spc="11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MULTIPLE AGENTS</a:t>
            </a:r>
            <a:endParaRPr lang="en-US" sz="870" dirty="0"/>
          </a:p>
        </p:txBody>
      </p:sp>
      <p:sp>
        <p:nvSpPr>
          <p:cNvPr id="57" name="Text 46"/>
          <p:cNvSpPr/>
          <p:nvPr/>
        </p:nvSpPr>
        <p:spPr>
          <a:xfrm>
            <a:off x="749808" y="4745736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7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optimize different objectives — Finance favors cost, Sales favors retention, HR favors workforce stability. The CEO Agent reconciles these competing perspectives into one recommendation.</a:t>
            </a:r>
            <a:endParaRPr lang="en-US" sz="870" dirty="0"/>
          </a:p>
        </p:txBody>
      </p:sp>
      <p:sp>
        <p:nvSpPr>
          <p:cNvPr id="58" name="Text 47"/>
          <p:cNvSpPr/>
          <p:nvPr/>
        </p:nvSpPr>
        <p:spPr>
          <a:xfrm>
            <a:off x="548640" y="558698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agents are specialized reasoning components coordinated by the CEO Agent — not independently autonomous unless explicitly implemented and approved.</a:t>
            </a:r>
            <a:endParaRPr lang="en-US" sz="800" dirty="0"/>
          </a:p>
        </p:txBody>
      </p:sp>
      <p:sp>
        <p:nvSpPr>
          <p:cNvPr id="59" name="Text 48"/>
          <p:cNvSpPr/>
          <p:nvPr/>
        </p:nvSpPr>
        <p:spPr>
          <a:xfrm>
            <a:off x="548640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  ·  Autonomous Enterprise Intelligence Platform</a:t>
            </a:r>
            <a:endParaRPr lang="en-US" sz="850" dirty="0"/>
          </a:p>
        </p:txBody>
      </p:sp>
      <p:sp>
        <p:nvSpPr>
          <p:cNvPr id="60" name="Text 49"/>
          <p:cNvSpPr/>
          <p:nvPr/>
        </p:nvSpPr>
        <p:spPr>
          <a:xfrm>
            <a:off x="8899855" y="6473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 ·  Review 1  ·  09 / 12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/college_logo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1185855" y="29260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TAXONOMY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Intelligence Layers — Three Different Jobs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1078992"/>
          </a:xfrm>
          <a:prstGeom prst="roundRect">
            <a:avLst>
              <a:gd name="adj" fmla="val 7627"/>
            </a:avLst>
          </a:prstGeom>
          <a:solidFill>
            <a:srgbClr val="EEF2F9"/>
          </a:solidFill>
          <a:ln/>
        </p:spPr>
      </p:sp>
      <p:sp>
        <p:nvSpPr>
          <p:cNvPr id="6" name="Shape 3"/>
          <p:cNvSpPr/>
          <p:nvPr/>
        </p:nvSpPr>
        <p:spPr>
          <a:xfrm>
            <a:off x="768096" y="1911096"/>
            <a:ext cx="457200" cy="45720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7" name="Image 1" descr="/home/claude/work/icons/bar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020824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08176" y="17190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408176" y="202082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is likely to happen?”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474720" y="1746504"/>
            <a:ext cx="79488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 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· Revenue forecasting · Demand prediction</a:t>
            </a:r>
            <a:endParaRPr lang="en-US" sz="980" dirty="0"/>
          </a:p>
        </p:txBody>
      </p:sp>
      <p:sp>
        <p:nvSpPr>
          <p:cNvPr id="11" name="Text 7"/>
          <p:cNvSpPr/>
          <p:nvPr/>
        </p:nvSpPr>
        <p:spPr>
          <a:xfrm>
            <a:off x="3474720" y="2057400"/>
            <a:ext cx="79488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 · Temporal Fusion Transformer</a:t>
            </a:r>
            <a:endParaRPr lang="en-US" sz="980" dirty="0"/>
          </a:p>
        </p:txBody>
      </p:sp>
      <p:sp>
        <p:nvSpPr>
          <p:cNvPr id="12" name="Text 8"/>
          <p:cNvSpPr/>
          <p:nvPr/>
        </p:nvSpPr>
        <p:spPr>
          <a:xfrm>
            <a:off x="3474720" y="2350008"/>
            <a:ext cx="79488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 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· Precision · Recall · F1 · MAE · RMSE · MAPE</a:t>
            </a:r>
            <a:endParaRPr lang="en-US" sz="980" dirty="0"/>
          </a:p>
        </p:txBody>
      </p:sp>
      <p:sp>
        <p:nvSpPr>
          <p:cNvPr id="13" name="Shape 9"/>
          <p:cNvSpPr/>
          <p:nvPr/>
        </p:nvSpPr>
        <p:spPr>
          <a:xfrm>
            <a:off x="11323015" y="2683764"/>
            <a:ext cx="118872" cy="100584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14" name="Shape 10"/>
          <p:cNvSpPr/>
          <p:nvPr/>
        </p:nvSpPr>
        <p:spPr>
          <a:xfrm>
            <a:off x="548640" y="2788920"/>
            <a:ext cx="11094415" cy="1078992"/>
          </a:xfrm>
          <a:prstGeom prst="roundRect">
            <a:avLst>
              <a:gd name="adj" fmla="val 7627"/>
            </a:avLst>
          </a:prstGeom>
          <a:solidFill>
            <a:srgbClr val="EEF2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68096" y="3099816"/>
            <a:ext cx="457200" cy="45720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6" name="Image 2" descr="/home/claude/work/icons/ms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20954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08176" y="29077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08176" y="320954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we explain or communicate it?”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3474720" y="2935224"/>
            <a:ext cx="79488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 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· Executive summaries · Document analysis</a:t>
            </a:r>
            <a:endParaRPr lang="en-US" sz="980" dirty="0"/>
          </a:p>
        </p:txBody>
      </p:sp>
      <p:sp>
        <p:nvSpPr>
          <p:cNvPr id="20" name="Text 15"/>
          <p:cNvSpPr/>
          <p:nvPr/>
        </p:nvSpPr>
        <p:spPr>
          <a:xfrm>
            <a:off x="3474720" y="3246120"/>
            <a:ext cx="79488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LLM · Natural-language interaction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11323015" y="3872484"/>
            <a:ext cx="118872" cy="100584"/>
          </a:xfrm>
          <a:prstGeom prst="downArrow">
            <a:avLst/>
          </a:prstGeom>
          <a:solidFill>
            <a:srgbClr val="C9972F"/>
          </a:solidFill>
          <a:ln/>
        </p:spPr>
      </p:sp>
      <p:sp>
        <p:nvSpPr>
          <p:cNvPr id="22" name="Shape 17"/>
          <p:cNvSpPr/>
          <p:nvPr/>
        </p:nvSpPr>
        <p:spPr>
          <a:xfrm>
            <a:off x="548640" y="3977640"/>
            <a:ext cx="11094415" cy="1078992"/>
          </a:xfrm>
          <a:prstGeom prst="roundRect">
            <a:avLst>
              <a:gd name="adj" fmla="val 7627"/>
            </a:avLst>
          </a:prstGeom>
          <a:solidFill>
            <a:srgbClr val="16244A"/>
          </a:solidFill>
          <a:ln/>
        </p:spPr>
      </p:sp>
      <p:sp>
        <p:nvSpPr>
          <p:cNvPr id="23" name="Shape 18"/>
          <p:cNvSpPr/>
          <p:nvPr/>
        </p:nvSpPr>
        <p:spPr>
          <a:xfrm>
            <a:off x="768096" y="4288536"/>
            <a:ext cx="457200" cy="457200"/>
          </a:xfrm>
          <a:prstGeom prst="ellipse">
            <a:avLst/>
          </a:prstGeom>
          <a:solidFill>
            <a:srgbClr val="C9972F"/>
          </a:solidFill>
          <a:ln/>
        </p:spPr>
      </p:sp>
      <p:pic>
        <p:nvPicPr>
          <p:cNvPr id="24" name="Image 3" descr="/home/claude/work/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39826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08176" y="40965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408176" y="439826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7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should be done?”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3474720" y="4123944"/>
            <a:ext cx="794887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 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· Tool calling · Recommendation generation</a:t>
            </a:r>
            <a:endParaRPr lang="en-US" sz="980" dirty="0"/>
          </a:p>
        </p:txBody>
      </p:sp>
      <p:sp>
        <p:nvSpPr>
          <p:cNvPr id="28" name="Text 22"/>
          <p:cNvSpPr/>
          <p:nvPr/>
        </p:nvSpPr>
        <p:spPr>
          <a:xfrm>
            <a:off x="3474720" y="4434840"/>
            <a:ext cx="79488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  </a:t>
            </a:r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coordination · Workflow orchestration</a:t>
            </a:r>
            <a:endParaRPr lang="en-US" sz="980" dirty="0"/>
          </a:p>
        </p:txBody>
      </p:sp>
      <p:sp>
        <p:nvSpPr>
          <p:cNvPr id="29" name="Shape 23"/>
          <p:cNvSpPr/>
          <p:nvPr/>
        </p:nvSpPr>
        <p:spPr>
          <a:xfrm>
            <a:off x="548640" y="5184648"/>
            <a:ext cx="11094415" cy="566928"/>
          </a:xfrm>
          <a:prstGeom prst="roundRect">
            <a:avLst>
              <a:gd name="adj" fmla="val 14516"/>
            </a:avLst>
          </a:prstGeom>
          <a:solidFill>
            <a:srgbClr val="3A1E1A"/>
          </a:solidFill>
          <a:ln/>
        </p:spPr>
      </p:sp>
      <p:sp>
        <p:nvSpPr>
          <p:cNvPr id="30" name="Shape 24"/>
          <p:cNvSpPr/>
          <p:nvPr/>
        </p:nvSpPr>
        <p:spPr>
          <a:xfrm>
            <a:off x="768096" y="5285232"/>
            <a:ext cx="365760" cy="365760"/>
          </a:xfrm>
          <a:prstGeom prst="ellipse">
            <a:avLst/>
          </a:prstGeom>
          <a:solidFill>
            <a:srgbClr val="B4483A"/>
          </a:solidFill>
          <a:ln/>
        </p:spPr>
      </p:sp>
      <p:pic>
        <p:nvPicPr>
          <p:cNvPr id="31" name="Image 4" descr="/home/claude/work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367528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35024" y="525780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Governance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1335024" y="5486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F2D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“Should this action actually happen?”</a:t>
            </a:r>
            <a:endParaRPr lang="en-US" sz="880" dirty="0"/>
          </a:p>
        </p:txBody>
      </p:sp>
      <p:sp>
        <p:nvSpPr>
          <p:cNvPr id="34" name="Text 27"/>
          <p:cNvSpPr/>
          <p:nvPr/>
        </p:nvSpPr>
        <p:spPr>
          <a:xfrm>
            <a:off x="3474720" y="5184648"/>
            <a:ext cx="794887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F2D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prediction, explanation, and agent recommendation converges here before any real-world action is authorized.</a:t>
            </a:r>
            <a:endParaRPr lang="en-US" sz="960" dirty="0"/>
          </a:p>
        </p:txBody>
      </p:sp>
      <p:sp>
        <p:nvSpPr>
          <p:cNvPr id="35" name="Text 28"/>
          <p:cNvSpPr/>
          <p:nvPr/>
        </p:nvSpPr>
        <p:spPr>
          <a:xfrm>
            <a:off x="548640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  ·  Autonomous Enterprise Intelligence Platform</a:t>
            </a:r>
            <a:endParaRPr lang="en-US" sz="850" dirty="0"/>
          </a:p>
        </p:txBody>
      </p:sp>
      <p:sp>
        <p:nvSpPr>
          <p:cNvPr id="36" name="Text 29"/>
          <p:cNvSpPr/>
          <p:nvPr/>
        </p:nvSpPr>
        <p:spPr>
          <a:xfrm>
            <a:off x="8899855" y="6473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 ·  Review 1  ·  10 / 12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/college_logo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1185855" y="29260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06 · ORGANIZATION, IMPLEMENTATION &amp; EVALUATION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and Validating AI CEO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8640" y="16276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24-WEEK IMPLEMENTATION ROADMAP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1005840" y="2313432"/>
            <a:ext cx="10180015" cy="914"/>
          </a:xfrm>
          <a:prstGeom prst="line">
            <a:avLst/>
          </a:prstGeom>
          <a:noFill/>
          <a:ln w="25400">
            <a:solidFill>
              <a:srgbClr val="DCE3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75202" y="2130552"/>
            <a:ext cx="365760" cy="365760"/>
          </a:xfrm>
          <a:prstGeom prst="ellipse">
            <a:avLst/>
          </a:prstGeom>
          <a:solidFill>
            <a:srgbClr val="0F1B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75202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709928"/>
            <a:ext cx="212744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9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1200882" y="2551176"/>
            <a:ext cx="914400" cy="201168"/>
          </a:xfrm>
          <a:prstGeom prst="roundRect">
            <a:avLst>
              <a:gd name="adj" fmla="val 36364"/>
            </a:avLst>
          </a:prstGeom>
          <a:solidFill>
            <a:srgbClr val="EEF2F9"/>
          </a:solidFill>
          <a:ln/>
        </p:spPr>
      </p:sp>
      <p:sp>
        <p:nvSpPr>
          <p:cNvPr id="11" name="Text 8"/>
          <p:cNvSpPr/>
          <p:nvPr/>
        </p:nvSpPr>
        <p:spPr>
          <a:xfrm>
            <a:off x="1237458" y="2551176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3A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1–4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3694085" y="2130552"/>
            <a:ext cx="365760" cy="365760"/>
          </a:xfrm>
          <a:prstGeom prst="ellipse">
            <a:avLst/>
          </a:prstGeom>
          <a:solidFill>
            <a:srgbClr val="0F1B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94085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813243" y="1709928"/>
            <a:ext cx="212744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9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RAG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3419765" y="2551176"/>
            <a:ext cx="914400" cy="201168"/>
          </a:xfrm>
          <a:prstGeom prst="roundRect">
            <a:avLst>
              <a:gd name="adj" fmla="val 36364"/>
            </a:avLst>
          </a:prstGeom>
          <a:solidFill>
            <a:srgbClr val="EEF2F9"/>
          </a:solidFill>
          <a:ln/>
        </p:spPr>
      </p:sp>
      <p:sp>
        <p:nvSpPr>
          <p:cNvPr id="16" name="Text 13"/>
          <p:cNvSpPr/>
          <p:nvPr/>
        </p:nvSpPr>
        <p:spPr>
          <a:xfrm>
            <a:off x="3456341" y="2551176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3A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5–8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5912968" y="2130552"/>
            <a:ext cx="365760" cy="365760"/>
          </a:xfrm>
          <a:prstGeom prst="ellipse">
            <a:avLst/>
          </a:prstGeom>
          <a:solidFill>
            <a:srgbClr val="0F1B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12968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32126" y="1709928"/>
            <a:ext cx="212744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9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5638648" y="2551176"/>
            <a:ext cx="914400" cy="201168"/>
          </a:xfrm>
          <a:prstGeom prst="roundRect">
            <a:avLst>
              <a:gd name="adj" fmla="val 36364"/>
            </a:avLst>
          </a:prstGeom>
          <a:solidFill>
            <a:srgbClr val="EEF2F9"/>
          </a:solidFill>
          <a:ln/>
        </p:spPr>
      </p:sp>
      <p:sp>
        <p:nvSpPr>
          <p:cNvPr id="21" name="Text 18"/>
          <p:cNvSpPr/>
          <p:nvPr/>
        </p:nvSpPr>
        <p:spPr>
          <a:xfrm>
            <a:off x="5675224" y="2551176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3A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9–13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8131851" y="2130552"/>
            <a:ext cx="365760" cy="365760"/>
          </a:xfrm>
          <a:prstGeom prst="ellipse">
            <a:avLst/>
          </a:prstGeom>
          <a:solidFill>
            <a:srgbClr val="0F1B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31851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251009" y="1709928"/>
            <a:ext cx="212744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9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7857531" y="2551176"/>
            <a:ext cx="914400" cy="201168"/>
          </a:xfrm>
          <a:prstGeom prst="roundRect">
            <a:avLst>
              <a:gd name="adj" fmla="val 36364"/>
            </a:avLst>
          </a:prstGeom>
          <a:solidFill>
            <a:srgbClr val="EEF2F9"/>
          </a:solidFill>
          <a:ln/>
        </p:spPr>
      </p:sp>
      <p:sp>
        <p:nvSpPr>
          <p:cNvPr id="26" name="Text 23"/>
          <p:cNvSpPr/>
          <p:nvPr/>
        </p:nvSpPr>
        <p:spPr>
          <a:xfrm>
            <a:off x="7894107" y="2551176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3A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14–18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10350734" y="2130552"/>
            <a:ext cx="365760" cy="365760"/>
          </a:xfrm>
          <a:prstGeom prst="ellipse">
            <a:avLst/>
          </a:prstGeom>
          <a:solidFill>
            <a:srgbClr val="0F1B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350734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469892" y="1709928"/>
            <a:ext cx="212744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+</a:t>
            </a:r>
            <a:endParaRPr lang="en-US" sz="9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10076414" y="2551176"/>
            <a:ext cx="914400" cy="201168"/>
          </a:xfrm>
          <a:prstGeom prst="roundRect">
            <a:avLst>
              <a:gd name="adj" fmla="val 36364"/>
            </a:avLst>
          </a:prstGeom>
          <a:solidFill>
            <a:srgbClr val="EEF2F9"/>
          </a:solidFill>
          <a:ln/>
        </p:spPr>
      </p:sp>
      <p:sp>
        <p:nvSpPr>
          <p:cNvPr id="31" name="Text 28"/>
          <p:cNvSpPr/>
          <p:nvPr/>
        </p:nvSpPr>
        <p:spPr>
          <a:xfrm>
            <a:off x="10112990" y="2551176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3A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19–24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548640" y="2953512"/>
            <a:ext cx="3246120" cy="2331720"/>
          </a:xfrm>
          <a:prstGeom prst="roundRect">
            <a:avLst>
              <a:gd name="adj" fmla="val 3529"/>
            </a:avLst>
          </a:prstGeom>
          <a:solidFill>
            <a:srgbClr val="EEF2F9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731520" y="3099816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RESPONSIBILITIES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31520" y="3410712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31520" y="3611880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/ GenAI</a:t>
            </a:r>
            <a:endParaRPr lang="en-US" sz="860" dirty="0"/>
          </a:p>
        </p:txBody>
      </p:sp>
      <p:sp>
        <p:nvSpPr>
          <p:cNvPr id="36" name="Text 33"/>
          <p:cNvSpPr/>
          <p:nvPr/>
        </p:nvSpPr>
        <p:spPr>
          <a:xfrm>
            <a:off x="731520" y="3867912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Sanika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31520" y="4069080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Knowledge Graph</a:t>
            </a:r>
            <a:endParaRPr lang="en-US" sz="860" dirty="0"/>
          </a:p>
        </p:txBody>
      </p:sp>
      <p:sp>
        <p:nvSpPr>
          <p:cNvPr id="38" name="Text 35"/>
          <p:cNvSpPr/>
          <p:nvPr/>
        </p:nvSpPr>
        <p:spPr>
          <a:xfrm>
            <a:off x="731520" y="4325112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Shravani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31520" y="4526280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/ ML</a:t>
            </a:r>
            <a:endParaRPr lang="en-US" sz="860" dirty="0"/>
          </a:p>
        </p:txBody>
      </p:sp>
      <p:sp>
        <p:nvSpPr>
          <p:cNvPr id="40" name="Text 37"/>
          <p:cNvSpPr/>
          <p:nvPr/>
        </p:nvSpPr>
        <p:spPr>
          <a:xfrm>
            <a:off x="731520" y="4782312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31520" y="4983480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Workflow Automation</a:t>
            </a:r>
            <a:endParaRPr lang="en-US" sz="860" dirty="0"/>
          </a:p>
        </p:txBody>
      </p:sp>
      <p:sp>
        <p:nvSpPr>
          <p:cNvPr id="42" name="Shape 39"/>
          <p:cNvSpPr/>
          <p:nvPr/>
        </p:nvSpPr>
        <p:spPr>
          <a:xfrm>
            <a:off x="4069080" y="2953512"/>
            <a:ext cx="7573975" cy="2331720"/>
          </a:xfrm>
          <a:prstGeom prst="roundRect">
            <a:avLst>
              <a:gd name="adj" fmla="val 3529"/>
            </a:avLst>
          </a:prstGeom>
          <a:solidFill>
            <a:srgbClr val="0F1B3C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4270248" y="3090672"/>
            <a:ext cx="72082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270248" y="3374136"/>
            <a:ext cx="34943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270248" y="3529584"/>
            <a:ext cx="34486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· Retrieval Precision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856068" y="3374136"/>
            <a:ext cx="34943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 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856068" y="3529584"/>
            <a:ext cx="34486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· F1 · Precision · Recall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4270248" y="3758184"/>
            <a:ext cx="34943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 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270248" y="3913632"/>
            <a:ext cx="34486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RMSE · MAPE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856068" y="3758184"/>
            <a:ext cx="34943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 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856068" y="3913632"/>
            <a:ext cx="34486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· Recommendation Consistency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4270248" y="4142232"/>
            <a:ext cx="34943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 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270248" y="4297680"/>
            <a:ext cx="34486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· Reliability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7856068" y="4142232"/>
            <a:ext cx="34943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 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7856068" y="4297680"/>
            <a:ext cx="34486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AEB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Time-to-Insight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4270248" y="4581144"/>
            <a:ext cx="7171639" cy="914"/>
          </a:xfrm>
          <a:prstGeom prst="line">
            <a:avLst/>
          </a:prstGeom>
          <a:noFill/>
          <a:ln w="12700">
            <a:solidFill>
              <a:srgbClr val="2C3B6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270248" y="4672584"/>
            <a:ext cx="72082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4270248" y="4873752"/>
            <a:ext cx="1375806" cy="329184"/>
          </a:xfrm>
          <a:prstGeom prst="roundRect">
            <a:avLst>
              <a:gd name="adj" fmla="val 22222"/>
            </a:avLst>
          </a:prstGeom>
          <a:solidFill>
            <a:srgbClr val="1C2C55"/>
          </a:solidFill>
          <a:ln/>
        </p:spPr>
      </p:sp>
      <p:sp>
        <p:nvSpPr>
          <p:cNvPr id="59" name="Text 56"/>
          <p:cNvSpPr/>
          <p:nvPr/>
        </p:nvSpPr>
        <p:spPr>
          <a:xfrm>
            <a:off x="4306824" y="4873752"/>
            <a:ext cx="130265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730" dirty="0"/>
          </a:p>
        </p:txBody>
      </p:sp>
      <p:sp>
        <p:nvSpPr>
          <p:cNvPr id="60" name="Shape 57"/>
          <p:cNvSpPr/>
          <p:nvPr/>
        </p:nvSpPr>
        <p:spPr>
          <a:xfrm>
            <a:off x="5648797" y="5001768"/>
            <a:ext cx="64008" cy="82296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61" name="Shape 58"/>
          <p:cNvSpPr/>
          <p:nvPr/>
        </p:nvSpPr>
        <p:spPr>
          <a:xfrm>
            <a:off x="5719206" y="4873752"/>
            <a:ext cx="1375806" cy="329184"/>
          </a:xfrm>
          <a:prstGeom prst="roundRect">
            <a:avLst>
              <a:gd name="adj" fmla="val 22222"/>
            </a:avLst>
          </a:prstGeom>
          <a:solidFill>
            <a:srgbClr val="1C2C55"/>
          </a:solidFill>
          <a:ln/>
        </p:spPr>
      </p:sp>
      <p:sp>
        <p:nvSpPr>
          <p:cNvPr id="62" name="Text 59"/>
          <p:cNvSpPr/>
          <p:nvPr/>
        </p:nvSpPr>
        <p:spPr>
          <a:xfrm>
            <a:off x="5755782" y="4873752"/>
            <a:ext cx="130265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30" dirty="0"/>
          </a:p>
        </p:txBody>
      </p:sp>
      <p:sp>
        <p:nvSpPr>
          <p:cNvPr id="63" name="Shape 60"/>
          <p:cNvSpPr/>
          <p:nvPr/>
        </p:nvSpPr>
        <p:spPr>
          <a:xfrm>
            <a:off x="7097756" y="5001768"/>
            <a:ext cx="64008" cy="82296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64" name="Shape 61"/>
          <p:cNvSpPr/>
          <p:nvPr/>
        </p:nvSpPr>
        <p:spPr>
          <a:xfrm>
            <a:off x="7168164" y="4873752"/>
            <a:ext cx="1375806" cy="329184"/>
          </a:xfrm>
          <a:prstGeom prst="roundRect">
            <a:avLst>
              <a:gd name="adj" fmla="val 22222"/>
            </a:avLst>
          </a:prstGeom>
          <a:solidFill>
            <a:srgbClr val="1C2C55"/>
          </a:solidFill>
          <a:ln/>
        </p:spPr>
      </p:sp>
      <p:sp>
        <p:nvSpPr>
          <p:cNvPr id="65" name="Text 62"/>
          <p:cNvSpPr/>
          <p:nvPr/>
        </p:nvSpPr>
        <p:spPr>
          <a:xfrm>
            <a:off x="7204740" y="4873752"/>
            <a:ext cx="130265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Vector-only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730" dirty="0"/>
          </a:p>
        </p:txBody>
      </p:sp>
      <p:sp>
        <p:nvSpPr>
          <p:cNvPr id="66" name="Shape 63"/>
          <p:cNvSpPr/>
          <p:nvPr/>
        </p:nvSpPr>
        <p:spPr>
          <a:xfrm>
            <a:off x="8546714" y="5001768"/>
            <a:ext cx="64008" cy="82296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67" name="Shape 64"/>
          <p:cNvSpPr/>
          <p:nvPr/>
        </p:nvSpPr>
        <p:spPr>
          <a:xfrm>
            <a:off x="8617123" y="4873752"/>
            <a:ext cx="1375806" cy="329184"/>
          </a:xfrm>
          <a:prstGeom prst="roundRect">
            <a:avLst>
              <a:gd name="adj" fmla="val 22222"/>
            </a:avLst>
          </a:prstGeom>
          <a:solidFill>
            <a:srgbClr val="1C2C55"/>
          </a:solidFill>
          <a:ln/>
        </p:spPr>
      </p:sp>
      <p:sp>
        <p:nvSpPr>
          <p:cNvPr id="68" name="Text 65"/>
          <p:cNvSpPr/>
          <p:nvPr/>
        </p:nvSpPr>
        <p:spPr>
          <a:xfrm>
            <a:off x="8653699" y="4873752"/>
            <a:ext cx="130265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30" dirty="0"/>
          </a:p>
        </p:txBody>
      </p:sp>
      <p:sp>
        <p:nvSpPr>
          <p:cNvPr id="69" name="Shape 66"/>
          <p:cNvSpPr/>
          <p:nvPr/>
        </p:nvSpPr>
        <p:spPr>
          <a:xfrm>
            <a:off x="9995672" y="5001768"/>
            <a:ext cx="64008" cy="82296"/>
          </a:xfrm>
          <a:prstGeom prst="rightArrow">
            <a:avLst/>
          </a:prstGeom>
          <a:solidFill>
            <a:srgbClr val="C9972F"/>
          </a:solidFill>
          <a:ln/>
        </p:spPr>
      </p:sp>
      <p:sp>
        <p:nvSpPr>
          <p:cNvPr id="70" name="Shape 67"/>
          <p:cNvSpPr/>
          <p:nvPr/>
        </p:nvSpPr>
        <p:spPr>
          <a:xfrm>
            <a:off x="10066081" y="4873752"/>
            <a:ext cx="1375806" cy="329184"/>
          </a:xfrm>
          <a:prstGeom prst="roundRect">
            <a:avLst>
              <a:gd name="adj" fmla="val 22222"/>
            </a:avLst>
          </a:prstGeom>
          <a:solidFill>
            <a:srgbClr val="C9972F"/>
          </a:solidFill>
          <a:ln/>
        </p:spPr>
      </p:sp>
      <p:sp>
        <p:nvSpPr>
          <p:cNvPr id="71" name="Text 68"/>
          <p:cNvSpPr/>
          <p:nvPr/>
        </p:nvSpPr>
        <p:spPr>
          <a:xfrm>
            <a:off x="10102657" y="4873752"/>
            <a:ext cx="130265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</a:t>
            </a:r>
            <a:endParaRPr lang="en-US" sz="7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(Proposed)</a:t>
            </a:r>
            <a:endParaRPr lang="en-US" sz="730" dirty="0"/>
          </a:p>
        </p:txBody>
      </p:sp>
      <p:sp>
        <p:nvSpPr>
          <p:cNvPr id="72" name="Text 69"/>
          <p:cNvSpPr/>
          <p:nvPr/>
        </p:nvSpPr>
        <p:spPr>
          <a:xfrm>
            <a:off x="548640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  ·  Autonomous Enterprise Intelligence Platform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8899855" y="6473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 ·  Review 1  ·  11 / 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cons/college_logo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1185855" y="292608"/>
            <a:ext cx="384048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07 · 08 — CONCLUSION &amp; REFERENCES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Fragmented Data to Connected Decision Intelligence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F7F9FC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709928"/>
            <a:ext cx="499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3A5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31520" y="1965960"/>
            <a:ext cx="4998568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1965960"/>
            <a:ext cx="4925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Systems</a:t>
            </a:r>
            <a:endParaRPr lang="en-US" sz="860" dirty="0"/>
          </a:p>
        </p:txBody>
      </p:sp>
      <p:sp>
        <p:nvSpPr>
          <p:cNvPr id="9" name="Shape 6"/>
          <p:cNvSpPr/>
          <p:nvPr/>
        </p:nvSpPr>
        <p:spPr>
          <a:xfrm>
            <a:off x="731520" y="2267712"/>
            <a:ext cx="4998568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267712"/>
            <a:ext cx="4925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Context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731520" y="2569464"/>
            <a:ext cx="4998568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2569464"/>
            <a:ext cx="4925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731520" y="2871216"/>
            <a:ext cx="4998568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2871216"/>
            <a:ext cx="4925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Decisions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6278728" y="1600200"/>
            <a:ext cx="5364328" cy="1600200"/>
          </a:xfrm>
          <a:prstGeom prst="roundRect">
            <a:avLst>
              <a:gd name="adj" fmla="val 5143"/>
            </a:avLst>
          </a:prstGeom>
          <a:solidFill>
            <a:srgbClr val="0F1B3C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61608" y="1691640"/>
            <a:ext cx="499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461608" y="1947672"/>
            <a:ext cx="4998568" cy="237744"/>
          </a:xfrm>
          <a:prstGeom prst="roundRect">
            <a:avLst>
              <a:gd name="adj" fmla="val 30769"/>
            </a:avLst>
          </a:prstGeom>
          <a:solidFill>
            <a:srgbClr val="1C2C55"/>
          </a:solidFill>
          <a:ln/>
        </p:spPr>
      </p:sp>
      <p:sp>
        <p:nvSpPr>
          <p:cNvPr id="18" name="Text 15"/>
          <p:cNvSpPr/>
          <p:nvPr/>
        </p:nvSpPr>
        <p:spPr>
          <a:xfrm>
            <a:off x="6498184" y="1947672"/>
            <a:ext cx="4925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Data → Enterprise Twin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6461608" y="2249424"/>
            <a:ext cx="4998568" cy="237744"/>
          </a:xfrm>
          <a:prstGeom prst="roundRect">
            <a:avLst>
              <a:gd name="adj" fmla="val 30769"/>
            </a:avLst>
          </a:prstGeom>
          <a:solidFill>
            <a:srgbClr val="1C2C55"/>
          </a:solidFill>
          <a:ln/>
        </p:spPr>
      </p:sp>
      <p:sp>
        <p:nvSpPr>
          <p:cNvPr id="20" name="Text 17"/>
          <p:cNvSpPr/>
          <p:nvPr/>
        </p:nvSpPr>
        <p:spPr>
          <a:xfrm>
            <a:off x="6498184" y="2249424"/>
            <a:ext cx="4925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+ RAG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6461608" y="2551176"/>
            <a:ext cx="4998568" cy="237744"/>
          </a:xfrm>
          <a:prstGeom prst="roundRect">
            <a:avLst>
              <a:gd name="adj" fmla="val 30769"/>
            </a:avLst>
          </a:prstGeom>
          <a:solidFill>
            <a:srgbClr val="1C2C55"/>
          </a:solidFill>
          <a:ln/>
        </p:spPr>
      </p:sp>
      <p:sp>
        <p:nvSpPr>
          <p:cNvPr id="22" name="Text 19"/>
          <p:cNvSpPr/>
          <p:nvPr/>
        </p:nvSpPr>
        <p:spPr>
          <a:xfrm>
            <a:off x="6498184" y="2551176"/>
            <a:ext cx="4925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+ Multi-Agent Reasoning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6461608" y="2852928"/>
            <a:ext cx="4998568" cy="237744"/>
          </a:xfrm>
          <a:prstGeom prst="roundRect">
            <a:avLst>
              <a:gd name="adj" fmla="val 30769"/>
            </a:avLst>
          </a:prstGeom>
          <a:solidFill>
            <a:srgbClr val="1C2C55"/>
          </a:solidFill>
          <a:ln/>
        </p:spPr>
      </p:sp>
      <p:sp>
        <p:nvSpPr>
          <p:cNvPr id="24" name="Text 21"/>
          <p:cNvSpPr/>
          <p:nvPr/>
        </p:nvSpPr>
        <p:spPr>
          <a:xfrm>
            <a:off x="6498184" y="2852928"/>
            <a:ext cx="4925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Human-Governed Action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548640" y="338328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8640" y="3639312"/>
            <a:ext cx="35457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Cross-functional enterprise intelligence</a:t>
            </a:r>
            <a:endParaRPr lang="en-US" sz="930" dirty="0"/>
          </a:p>
        </p:txBody>
      </p:sp>
      <p:sp>
        <p:nvSpPr>
          <p:cNvPr id="27" name="Text 24"/>
          <p:cNvSpPr/>
          <p:nvPr/>
        </p:nvSpPr>
        <p:spPr>
          <a:xfrm>
            <a:off x="4322978" y="3639312"/>
            <a:ext cx="35457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Churn and revenue forecasting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8097317" y="3639312"/>
            <a:ext cx="35457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Grounded enterprise Copilot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48640" y="3913632"/>
            <a:ext cx="35457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Multi-agent decision support</a:t>
            </a:r>
            <a:endParaRPr lang="en-US" sz="930" dirty="0"/>
          </a:p>
        </p:txBody>
      </p:sp>
      <p:sp>
        <p:nvSpPr>
          <p:cNvPr id="30" name="Text 27"/>
          <p:cNvSpPr/>
          <p:nvPr/>
        </p:nvSpPr>
        <p:spPr>
          <a:xfrm>
            <a:off x="4322978" y="3913632"/>
            <a:ext cx="35457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Human-governed workflow automation</a:t>
            </a:r>
            <a:endParaRPr lang="en-US" sz="930" dirty="0"/>
          </a:p>
        </p:txBody>
      </p:sp>
      <p:sp>
        <p:nvSpPr>
          <p:cNvPr id="31" name="Text 28"/>
          <p:cNvSpPr/>
          <p:nvPr/>
        </p:nvSpPr>
        <p:spPr>
          <a:xfrm>
            <a:off x="8097317" y="3913632"/>
            <a:ext cx="35457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Reusable architecture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548640" y="4279392"/>
            <a:ext cx="11094415" cy="621792"/>
          </a:xfrm>
          <a:prstGeom prst="roundRect">
            <a:avLst>
              <a:gd name="adj" fmla="val 11765"/>
            </a:avLst>
          </a:prstGeom>
          <a:solidFill>
            <a:srgbClr val="EEF2F9"/>
          </a:solidFill>
          <a:ln/>
          <a:effectLst>
            <a:outerShdw sx="100000" sy="100000" kx="0" ky="0" algn="bl" rotWithShape="0" blurRad="76200" dist="25400" dir="5400000">
              <a:srgbClr val="0F1B3C">
                <a:alpha val="1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749808" y="4279392"/>
            <a:ext cx="10692079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contribution:  </a:t>
            </a:r>
            <a:pPr indent="0" marL="0">
              <a:lnSpc>
                <a:spcPct val="116000"/>
              </a:lnSpc>
              <a:buNone/>
            </a:pPr>
            <a:r>
              <a:rPr lang="en-US" sz="980" i="1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of a lightweight architecture combining knowledge graphs, hybrid retrieval, predictive intelligence, and coordinated multi-agent reasoning for cross-functional enterprise decision support.</a:t>
            </a:r>
            <a:endParaRPr lang="en-US" sz="980" dirty="0"/>
          </a:p>
        </p:txBody>
      </p:sp>
      <p:sp>
        <p:nvSpPr>
          <p:cNvPr id="34" name="Text 31"/>
          <p:cNvSpPr/>
          <p:nvPr/>
        </p:nvSpPr>
        <p:spPr>
          <a:xfrm>
            <a:off x="548640" y="506577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99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 (IEEE FORMAT)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48640" y="5303520"/>
            <a:ext cx="110944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P. Lewis et al., “Retrieval-Augmented Generation for Knowledge-Intensive NLP Tasks,” Proc. NeurIPS, 2020.</a:t>
            </a:r>
            <a:endParaRPr lang="en-US" sz="870" dirty="0"/>
          </a:p>
        </p:txBody>
      </p:sp>
      <p:sp>
        <p:nvSpPr>
          <p:cNvPr id="36" name="Text 33"/>
          <p:cNvSpPr/>
          <p:nvPr/>
        </p:nvSpPr>
        <p:spPr>
          <a:xfrm>
            <a:off x="548640" y="5522976"/>
            <a:ext cx="110944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T. Chen and C. Guestrin, “XGBoost: A Scalable Tree Boosting System,” Proc. ACM SIGKDD, 2016.</a:t>
            </a:r>
            <a:endParaRPr lang="en-US" sz="870" dirty="0"/>
          </a:p>
        </p:txBody>
      </p:sp>
      <p:sp>
        <p:nvSpPr>
          <p:cNvPr id="37" name="Text 34"/>
          <p:cNvSpPr/>
          <p:nvPr/>
        </p:nvSpPr>
        <p:spPr>
          <a:xfrm>
            <a:off x="548640" y="5742432"/>
            <a:ext cx="110944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B. Lim et al., “Temporal Fusion Transformers for Interpretable Multi-Horizon Time Series Forecasting,” Int. J. of Forecasting, 2021.</a:t>
            </a:r>
            <a:endParaRPr lang="en-US" sz="870" dirty="0"/>
          </a:p>
        </p:txBody>
      </p:sp>
      <p:sp>
        <p:nvSpPr>
          <p:cNvPr id="38" name="Text 35"/>
          <p:cNvSpPr/>
          <p:nvPr/>
        </p:nvSpPr>
        <p:spPr>
          <a:xfrm>
            <a:off x="548640" y="5961888"/>
            <a:ext cx="110944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3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S. M. Lundberg and S.-I. Lee, “A Unified Approach to Interpreting Model Predictions,” Proc. NeurIPS, 2017.</a:t>
            </a:r>
            <a:endParaRPr lang="en-US" sz="870" dirty="0"/>
          </a:p>
        </p:txBody>
      </p:sp>
      <p:sp>
        <p:nvSpPr>
          <p:cNvPr id="39" name="Text 36"/>
          <p:cNvSpPr/>
          <p:nvPr/>
        </p:nvSpPr>
        <p:spPr>
          <a:xfrm>
            <a:off x="548640" y="64739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CEO  ·  Autonomous Enterprise Intelligence Platform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8899855" y="6473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 ·  Review 1  ·  12 / 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2026-09-02T19:45:45Z</dcterms:created>
  <dcterms:modified xsi:type="dcterms:W3CDTF">2026-09-02T19:45:45Z</dcterms:modified>
</cp:coreProperties>
</file>